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3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58" r:id="rId23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61B3"/>
    <a:srgbClr val="595556"/>
    <a:srgbClr val="B4D2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5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14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7"/>
          <p:cNvSpPr>
            <a:spLocks noChangeShapeType="1"/>
          </p:cNvSpPr>
          <p:nvPr userDrawn="1"/>
        </p:nvSpPr>
        <p:spPr bwMode="auto">
          <a:xfrm>
            <a:off x="149543" y="945515"/>
            <a:ext cx="11892915" cy="635"/>
          </a:xfrm>
          <a:prstGeom prst="line">
            <a:avLst/>
          </a:prstGeom>
          <a:ln w="12700" cap="flat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3" name="标题占位符 1"/>
          <p:cNvSpPr>
            <a:spLocks noGrp="1"/>
          </p:cNvSpPr>
          <p:nvPr>
            <p:ph type="title" hasCustomPrompt="1"/>
          </p:nvPr>
        </p:nvSpPr>
        <p:spPr>
          <a:xfrm>
            <a:off x="4070350" y="365125"/>
            <a:ext cx="4015105" cy="39624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sz="2800" b="0">
                <a:solidFill>
                  <a:srgbClr val="0161B3"/>
                </a:solidFill>
                <a:latin typeface="微软雅黑" charset="0"/>
                <a:ea typeface="微软雅黑" charset="0"/>
              </a:defRPr>
            </a:lvl1pPr>
          </a:lstStyle>
          <a:p>
            <a:r>
              <a:rPr lang="zh-CN" altLang="en-US" b="1" dirty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主标题</a:t>
            </a:r>
            <a:endParaRPr lang="zh-CN" altLang="en-US" b="1" dirty="0">
              <a:solidFill>
                <a:srgbClr val="0070C0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" hasCustomPrompt="1"/>
          </p:nvPr>
        </p:nvSpPr>
        <p:spPr>
          <a:xfrm>
            <a:off x="673100" y="1002665"/>
            <a:ext cx="1976755" cy="57213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zh-CN" altLang="en-US" sz="2400" b="1" i="0" u="none" strike="noStrike" kern="1200" cap="none" spc="0" normalizeH="0" baseline="0" noProof="1" dirty="0">
                <a:solidFill>
                  <a:srgbClr val="595556"/>
                </a:solidFill>
                <a:latin typeface="微软雅黑" charset="-122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子标题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rgbClr val="0070C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>
            <p:custDataLst>
              <p:tags r:id="rId2"/>
            </p:custDataLst>
          </p:nvPr>
        </p:nvSpPr>
        <p:spPr>
          <a:xfrm>
            <a:off x="9662160" y="5805170"/>
            <a:ext cx="190246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  AI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数智研发部</a:t>
            </a:r>
            <a:endParaRPr lang="zh-CN" altLang="en-US" sz="2000" dirty="0" smtClean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    2026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年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X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月</a:t>
            </a:r>
            <a:endParaRPr lang="zh-CN" altLang="en-US" sz="2000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076" name="矩形 10"/>
          <p:cNvSpPr/>
          <p:nvPr>
            <p:custDataLst>
              <p:tags r:id="rId3"/>
            </p:custDataLst>
          </p:nvPr>
        </p:nvSpPr>
        <p:spPr>
          <a:xfrm>
            <a:off x="720090" y="1167130"/>
            <a:ext cx="10751820" cy="27495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algn="ctr"/>
            <a:endParaRPr lang="en-US" altLang="zh-CN" sz="32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长虹美菱股份有限公司</a:t>
            </a:r>
            <a:endParaRPr lang="en-US" altLang="zh-CN" sz="32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技术开发</a:t>
            </a:r>
            <a:r>
              <a:rPr lang="en-US" altLang="zh-CN" sz="3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(IPD)</a:t>
            </a:r>
            <a:r>
              <a:rPr lang="zh-CN" altLang="en-US" sz="3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项目</a:t>
            </a:r>
            <a:r>
              <a:rPr lang="en-US" altLang="zh-CN" sz="3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—</a:t>
            </a:r>
            <a:r>
              <a:rPr lang="en-US" altLang="zh-CN" sz="32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Charter</a:t>
            </a:r>
            <a:r>
              <a:rPr lang="zh-CN" altLang="en-US" sz="32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文件</a:t>
            </a:r>
            <a:endParaRPr lang="en-US" altLang="zh-CN" sz="32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/>
            <a:endParaRPr lang="zh-CN" altLang="en-US" sz="32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077" name="矩形 11"/>
          <p:cNvSpPr/>
          <p:nvPr>
            <p:custDataLst>
              <p:tags r:id="rId4"/>
            </p:custDataLst>
          </p:nvPr>
        </p:nvSpPr>
        <p:spPr>
          <a:xfrm>
            <a:off x="2759075" y="3804285"/>
            <a:ext cx="6674485" cy="143700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noAutofit/>
          </a:bodyPr>
          <a:lstStyle/>
          <a:p>
            <a:endParaRPr lang="en-US" altLang="zh-CN" sz="20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l"/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项目名称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：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XXXXX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技术</a:t>
            </a: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研究</a:t>
            </a:r>
            <a:endParaRPr lang="zh-CN" altLang="en-US" sz="20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项目类别：基础研究</a:t>
            </a:r>
            <a:endParaRPr lang="zh-CN" altLang="en-US" sz="2000" b="1" dirty="0">
              <a:solidFill>
                <a:schemeClr val="bg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矩形 2"/>
          <p:cNvSpPr>
            <a:spLocks noChangeArrowheads="1"/>
          </p:cNvSpPr>
          <p:nvPr/>
        </p:nvSpPr>
        <p:spPr bwMode="auto">
          <a:xfrm>
            <a:off x="5381623" y="803895"/>
            <a:ext cx="1428754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</a:pPr>
            <a:r>
              <a:rPr lang="zh-CN" altLang="en-US" sz="3200" b="1" dirty="0">
                <a:latin typeface="微软雅黑" charset="-122"/>
                <a:ea typeface="微软雅黑" charset="-122"/>
              </a:rPr>
              <a:t>目 </a:t>
            </a:r>
            <a:r>
              <a:rPr lang="en-US" altLang="zh-CN" sz="3200" b="1" dirty="0">
                <a:latin typeface="微软雅黑" charset="-122"/>
                <a:ea typeface="微软雅黑" charset="-122"/>
              </a:rPr>
              <a:t>  </a:t>
            </a:r>
            <a:r>
              <a:rPr lang="zh-CN" altLang="en-US" sz="3200" b="1" dirty="0">
                <a:latin typeface="微软雅黑" charset="-122"/>
                <a:ea typeface="微软雅黑" charset="-122"/>
              </a:rPr>
              <a:t>录</a:t>
            </a:r>
            <a:endParaRPr lang="zh-CN" altLang="en-US" sz="3200" b="1" dirty="0">
              <a:latin typeface="微软雅黑" charset="-122"/>
              <a:ea typeface="微软雅黑" charset="-122"/>
            </a:endParaRPr>
          </a:p>
        </p:txBody>
      </p:sp>
      <p:sp>
        <p:nvSpPr>
          <p:cNvPr id="3082" name="Text Box 25"/>
          <p:cNvSpPr txBox="1"/>
          <p:nvPr/>
        </p:nvSpPr>
        <p:spPr>
          <a:xfrm>
            <a:off x="4230370" y="1664335"/>
            <a:ext cx="3731260" cy="44538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>
                <a:latin typeface="微软雅黑" charset="-122"/>
                <a:ea typeface="微软雅黑" charset="-122"/>
                <a:sym typeface="+mn-ea"/>
              </a:rPr>
              <a:t>一、项目背景</a:t>
            </a:r>
            <a:r>
              <a:rPr lang="en-US" altLang="zh-CN" sz="2000" b="1" dirty="0">
                <a:latin typeface="微软雅黑" charset="-122"/>
                <a:ea typeface="微软雅黑" charset="-122"/>
                <a:sym typeface="+mn-ea"/>
              </a:rPr>
              <a:t>     </a:t>
            </a:r>
            <a:endParaRPr lang="en-US" altLang="zh-CN" sz="2000" b="1" dirty="0" smtClean="0">
              <a:latin typeface="微软雅黑" charset="-122"/>
              <a:ea typeface="微软雅黑" charset="-122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二、</a:t>
            </a: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研究内容</a:t>
            </a:r>
            <a:endParaRPr lang="zh-CN" altLang="en-US" sz="2000" b="1" dirty="0" smtClean="0">
              <a:latin typeface="微软雅黑" charset="-122"/>
              <a:ea typeface="微软雅黑" charset="-122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三、项目价值</a:t>
            </a:r>
            <a:endParaRPr lang="en-US" altLang="zh-CN" sz="2000" b="1" dirty="0" smtClean="0">
              <a:latin typeface="微软雅黑" charset="-122"/>
              <a:ea typeface="微软雅黑" charset="-122"/>
              <a:sym typeface="+mn-ea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四、</a:t>
            </a: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项目目标</a:t>
            </a:r>
            <a:endParaRPr lang="zh-CN" altLang="en-US" sz="2000" b="1" dirty="0" smtClean="0">
              <a:latin typeface="微软雅黑" charset="-122"/>
              <a:ea typeface="微软雅黑" charset="-122"/>
              <a:sym typeface="+mn-ea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五、关键资源计划</a:t>
            </a:r>
            <a:r>
              <a:rPr lang="en-US" altLang="zh-CN" sz="2000" b="1" dirty="0" smtClean="0">
                <a:latin typeface="微软雅黑" charset="-122"/>
                <a:ea typeface="微软雅黑" charset="-122"/>
                <a:sym typeface="+mn-ea"/>
              </a:rPr>
              <a:t> </a:t>
            </a:r>
            <a:endParaRPr lang="zh-CN" altLang="en-US" sz="2000" b="1" dirty="0" smtClean="0">
              <a:latin typeface="微软雅黑" charset="-122"/>
              <a:ea typeface="微软雅黑" charset="-122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六、</a:t>
            </a: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财务计划</a:t>
            </a:r>
            <a:endParaRPr lang="zh-CN" altLang="en-US" sz="2000" b="1" dirty="0" smtClean="0">
              <a:latin typeface="微软雅黑" charset="-122"/>
              <a:ea typeface="微软雅黑" charset="-122"/>
              <a:sym typeface="+mn-ea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七、产出和收益</a:t>
            </a:r>
            <a:r>
              <a:rPr lang="en-US" altLang="zh-CN" sz="2000" b="1" dirty="0" smtClean="0">
                <a:latin typeface="微软雅黑" charset="-122"/>
                <a:ea typeface="微软雅黑" charset="-122"/>
                <a:sym typeface="+mn-ea"/>
              </a:rPr>
              <a:t> </a:t>
            </a:r>
            <a:endParaRPr lang="en-US" altLang="zh-CN" sz="2000" b="1" dirty="0" smtClean="0">
              <a:latin typeface="微软雅黑" charset="-122"/>
              <a:ea typeface="微软雅黑" charset="-122"/>
              <a:sym typeface="+mn-ea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八、风险及问题管理</a:t>
            </a:r>
            <a:endParaRPr lang="en-US" altLang="zh-CN" sz="2000" b="1" dirty="0" smtClean="0">
              <a:latin typeface="微软雅黑" charset="-122"/>
              <a:ea typeface="微软雅黑" charset="-122"/>
            </a:endParaRPr>
          </a:p>
          <a:p>
            <a:pPr marL="0" indent="0" algn="l">
              <a:spcBef>
                <a:spcPct val="50000"/>
              </a:spcBef>
              <a:buNone/>
            </a:pPr>
            <a:r>
              <a:rPr lang="zh-CN" altLang="en-US" sz="2000" b="1" dirty="0" smtClean="0">
                <a:latin typeface="微软雅黑" charset="-122"/>
                <a:ea typeface="微软雅黑" charset="-122"/>
                <a:sym typeface="+mn-ea"/>
              </a:rPr>
              <a:t>九、</a:t>
            </a:r>
            <a:r>
              <a:rPr lang="zh-CN" altLang="zh-CN" sz="2000" b="1" dirty="0" smtClean="0">
                <a:latin typeface="微软雅黑" charset="-122"/>
                <a:ea typeface="微软雅黑" charset="-122"/>
                <a:sym typeface="+mn-ea"/>
              </a:rPr>
              <a:t>结论</a:t>
            </a:r>
            <a:endParaRPr lang="zh-CN" altLang="zh-CN" sz="2000" b="1" dirty="0"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charset="0"/>
                <a:ea typeface="微软雅黑" charset="0"/>
              </a:rPr>
              <a:t>一</a:t>
            </a:r>
            <a:r>
              <a:rPr lang="en-US" altLang="zh-CN">
                <a:latin typeface="微软雅黑" charset="0"/>
                <a:ea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</a:rPr>
              <a:t>项目背景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73100" y="1002665"/>
            <a:ext cx="2460625" cy="572135"/>
          </a:xfrm>
        </p:spPr>
        <p:txBody>
          <a:bodyPr/>
          <a:p>
            <a:r>
              <a:rPr lang="en-US" altLang="zh-CN"/>
              <a:t>1.1 </a:t>
            </a:r>
            <a:r>
              <a:t>需求</a:t>
            </a:r>
            <a:r>
              <a:t>提升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charset="0"/>
                <a:ea typeface="微软雅黑" charset="0"/>
              </a:rPr>
              <a:t>一</a:t>
            </a:r>
            <a:r>
              <a:rPr lang="en-US" altLang="zh-CN">
                <a:latin typeface="微软雅黑" charset="0"/>
                <a:ea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</a:rPr>
              <a:t>项目背景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73100" y="1002665"/>
            <a:ext cx="2460625" cy="572135"/>
          </a:xfrm>
        </p:spPr>
        <p:txBody>
          <a:bodyPr/>
          <a:p>
            <a:r>
              <a:rPr lang="en-US" altLang="zh-CN"/>
              <a:t>1.2 </a:t>
            </a:r>
            <a:r>
              <a:t>竞品</a:t>
            </a:r>
            <a:r>
              <a:t>现状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charset="0"/>
                <a:ea typeface="微软雅黑" charset="0"/>
              </a:rPr>
              <a:t>一</a:t>
            </a:r>
            <a:r>
              <a:rPr lang="en-US" altLang="zh-CN">
                <a:latin typeface="微软雅黑" charset="0"/>
                <a:ea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</a:rPr>
              <a:t>项目背景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73100" y="1002665"/>
            <a:ext cx="2460625" cy="572135"/>
          </a:xfrm>
        </p:spPr>
        <p:txBody>
          <a:bodyPr/>
          <a:p>
            <a:r>
              <a:rPr lang="en-US" altLang="zh-CN"/>
              <a:t>1.3 </a:t>
            </a:r>
            <a:r>
              <a:t>技术现状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charset="0"/>
                <a:ea typeface="微软雅黑" charset="0"/>
              </a:rPr>
              <a:t>一</a:t>
            </a:r>
            <a:r>
              <a:rPr lang="en-US" altLang="zh-CN">
                <a:latin typeface="微软雅黑" charset="0"/>
                <a:ea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</a:rPr>
              <a:t>项目背景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73100" y="1002665"/>
            <a:ext cx="2460625" cy="572135"/>
          </a:xfrm>
        </p:spPr>
        <p:txBody>
          <a:bodyPr/>
          <a:p>
            <a:r>
              <a:rPr lang="en-US" altLang="zh-CN"/>
              <a:t>1.4 </a:t>
            </a:r>
            <a:r>
              <a:t>背景</a:t>
            </a:r>
            <a:r>
              <a:t>小结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charset="0"/>
                <a:ea typeface="微软雅黑" charset="0"/>
              </a:rPr>
              <a:t>二</a:t>
            </a:r>
            <a:r>
              <a:rPr lang="en-US" altLang="zh-CN">
                <a:latin typeface="微软雅黑" charset="0"/>
                <a:ea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</a:rPr>
              <a:t>研究</a:t>
            </a:r>
            <a:r>
              <a:rPr lang="zh-CN" altLang="en-US">
                <a:latin typeface="微软雅黑" charset="0"/>
                <a:ea typeface="微软雅黑" charset="0"/>
              </a:rPr>
              <a:t>内容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73100" y="1002665"/>
            <a:ext cx="2750185" cy="572135"/>
          </a:xfrm>
        </p:spPr>
        <p:txBody>
          <a:bodyPr/>
          <a:p>
            <a:r>
              <a:rPr lang="en-US" altLang="zh-CN"/>
              <a:t>2.1 </a:t>
            </a:r>
            <a:r>
              <a:t>研发技术</a:t>
            </a:r>
            <a:r>
              <a:t>路线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charset="0"/>
                <a:ea typeface="微软雅黑" charset="0"/>
              </a:rPr>
              <a:t>二</a:t>
            </a:r>
            <a:r>
              <a:rPr lang="en-US" altLang="zh-CN">
                <a:latin typeface="微软雅黑" charset="0"/>
                <a:ea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</a:rPr>
              <a:t>研究</a:t>
            </a:r>
            <a:r>
              <a:rPr lang="zh-CN" altLang="en-US">
                <a:latin typeface="微软雅黑" charset="0"/>
                <a:ea typeface="微软雅黑" charset="0"/>
              </a:rPr>
              <a:t>内容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73100" y="1002665"/>
            <a:ext cx="2750185" cy="572135"/>
          </a:xfrm>
        </p:spPr>
        <p:txBody>
          <a:bodyPr/>
          <a:p>
            <a:r>
              <a:rPr lang="en-US" altLang="zh-CN"/>
              <a:t>2.2 </a:t>
            </a:r>
            <a:r>
              <a:t>框架设计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charset="0"/>
                <a:ea typeface="微软雅黑" charset="0"/>
              </a:rPr>
              <a:t>二</a:t>
            </a:r>
            <a:r>
              <a:rPr lang="en-US" altLang="zh-CN">
                <a:latin typeface="微软雅黑" charset="0"/>
                <a:ea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</a:rPr>
              <a:t>研究</a:t>
            </a:r>
            <a:r>
              <a:rPr lang="zh-CN" altLang="en-US">
                <a:latin typeface="微软雅黑" charset="0"/>
                <a:ea typeface="微软雅黑" charset="0"/>
              </a:rPr>
              <a:t>内容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73100" y="1002665"/>
            <a:ext cx="2750185" cy="572135"/>
          </a:xfrm>
        </p:spPr>
        <p:txBody>
          <a:bodyPr/>
          <a:p>
            <a:r>
              <a:rPr lang="en-US" altLang="zh-CN"/>
              <a:t>2.3 </a:t>
            </a:r>
            <a:r>
              <a:t>项目</a:t>
            </a:r>
            <a:r>
              <a:t>难点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charset="0"/>
                <a:ea typeface="微软雅黑" charset="0"/>
              </a:rPr>
              <a:t>三</a:t>
            </a:r>
            <a:r>
              <a:rPr lang="en-US" altLang="zh-CN">
                <a:latin typeface="微软雅黑" charset="0"/>
                <a:ea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</a:rPr>
              <a:t>项目</a:t>
            </a:r>
            <a:r>
              <a:rPr lang="zh-CN" altLang="en-US">
                <a:latin typeface="微软雅黑" charset="0"/>
                <a:ea typeface="微软雅黑" charset="0"/>
              </a:rPr>
              <a:t>价值</a:t>
            </a:r>
            <a:endParaRPr lang="zh-CN" altLang="en-US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四</a:t>
            </a:r>
            <a:r>
              <a:rPr lang="en-US" altLang="zh-CN"/>
              <a:t>、</a:t>
            </a:r>
            <a:r>
              <a:rPr lang="zh-CN" altLang="en-US"/>
              <a:t>项目</a:t>
            </a:r>
            <a:r>
              <a:rPr lang="zh-CN" altLang="en-US"/>
              <a:t>目标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Q</a:t>
            </a:r>
            <a:r>
              <a:t>指标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88670" y="1461135"/>
          <a:ext cx="10614025" cy="499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270"/>
                <a:gridCol w="7761605"/>
                <a:gridCol w="1581150"/>
              </a:tblGrid>
              <a:tr h="6496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序号</a:t>
                      </a:r>
                      <a:endParaRPr lang="zh-CN" altLang="en-US" sz="1600" b="1" dirty="0"/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指标要求</a:t>
                      </a:r>
                      <a:endParaRPr lang="zh-CN" altLang="en-US" sz="1600" b="1" dirty="0"/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交付物</a:t>
                      </a:r>
                      <a:endParaRPr lang="zh-CN" altLang="en-US" sz="1600" b="1" dirty="0"/>
                    </a:p>
                  </a:txBody>
                  <a:tcPr marL="91430" marR="91430" marT="45690" marB="45690" anchor="ctr" anchorCtr="0"/>
                </a:tc>
              </a:tr>
              <a:tr h="625475">
                <a:tc rowSpan="4"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功能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搭建双系统冰箱凝霜观测测试环境，用于凝霜图像、化霜水重样本采集。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硬件代码</a:t>
                      </a: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</a:rPr>
                        <a:t>/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测试报告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</a:tr>
              <a:tr h="626110">
                <a:tc vMerge="1"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开发凝霜程度可视化界面，支持蒸发器凝霜状态直观查看，内置人工标定功能，可标注凝霜基准等级。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代码</a:t>
                      </a: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</a:rPr>
                        <a:t>/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测试报告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</a:tr>
              <a:tr h="605790">
                <a:tc vMerge="1">
                  <a:tcPr marL="91430" marR="91430" marT="45690" marB="4569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开发</a:t>
                      </a: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IoT 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特征关联及凝霜等级规则算法，依据既定标定方案自动生成标准化凝霜标签数据集。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代码</a:t>
                      </a: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</a:rPr>
                        <a:t>/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测试报告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</a:tr>
              <a:tr h="669925">
                <a:tc vMerge="1">
                  <a:tcPr marL="91430" marR="91430" marT="45690" marB="456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实现数据驱动凝霜识别算法，通过输入 </a:t>
                      </a: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</a:rPr>
                        <a:t>IoT 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数据推理凝霜等级，基于标准标签测试集完成精度核验。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代码</a:t>
                      </a: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</a:rPr>
                        <a:t>/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测试报告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</a:tr>
              <a:tr h="626110">
                <a:tc rowSpan="2"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性能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基于本项目自研标定方案生成的已标记标准凝霜标签数据集，凝霜程度识别算法准确率≥70%。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测试报告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</a:tr>
              <a:tr h="589915">
                <a:tc vMerge="1">
                  <a:tcPr marL="91430" marR="91430" marT="45690" marB="45690" anchor="ctr"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凝霜程度虚拟传感器推理响应耗时为秒级。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测试报告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30" marR="91430" marT="45690" marB="45690" anchor="ctr" anchorCtr="0"/>
                </a:tc>
              </a:tr>
              <a:tr h="6057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专利指标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产出</a:t>
                      </a: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</a:rPr>
                        <a:t>1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篇专利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30" marR="91430" marT="45690" marB="4569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lt"/>
                        </a:rPr>
                        <a:t>申报流程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lt"/>
                      </a:endParaRPr>
                    </a:p>
                  </a:txBody>
                  <a:tcPr marL="91430" marR="91430" marT="45690" marB="4569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四</a:t>
            </a:r>
            <a:r>
              <a:rPr lang="en-US" altLang="zh-CN">
                <a:sym typeface="+mn-ea"/>
              </a:rPr>
              <a:t>、</a:t>
            </a:r>
            <a:r>
              <a:rPr lang="zh-CN" altLang="en-US">
                <a:sym typeface="+mn-ea"/>
              </a:rPr>
              <a:t>项目目标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C</a:t>
            </a:r>
            <a:r>
              <a:t>指标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64235" y="1574800"/>
          <a:ext cx="10739755" cy="46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0030"/>
                <a:gridCol w="3973195"/>
                <a:gridCol w="3986530"/>
              </a:tblGrid>
              <a:tr h="78676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 smtClean="0">
                          <a:latin typeface="微软雅黑" charset="0"/>
                          <a:ea typeface="微软雅黑" charset="0"/>
                        </a:rPr>
                        <a:t>费用科目</a:t>
                      </a:r>
                      <a:endParaRPr lang="zh-CN" altLang="en-US" sz="1400" dirty="0" smtClean="0"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 smtClean="0">
                          <a:latin typeface="微软雅黑" charset="0"/>
                          <a:ea typeface="微软雅黑" charset="0"/>
                        </a:rPr>
                        <a:t>预算</a:t>
                      </a:r>
                      <a:endParaRPr lang="zh-CN" altLang="en-US" sz="1400" dirty="0" smtClean="0"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 dirty="0" smtClean="0">
                          <a:latin typeface="微软雅黑" charset="0"/>
                          <a:ea typeface="微软雅黑" charset="0"/>
                        </a:rPr>
                        <a:t>备注</a:t>
                      </a:r>
                      <a:endParaRPr lang="zh-CN" altLang="en-US" sz="1400" dirty="0" smtClean="0"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</a:tr>
              <a:tr h="622300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实验室采集软件开发费用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免费提供开发并包含</a:t>
                      </a: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1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套部署试用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</a:tr>
              <a:tr h="800735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中转服务器</a:t>
                      </a: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(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美菱</a:t>
                      </a: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)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美菱内部试用</a:t>
                      </a: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无需付费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</a:tr>
              <a:tr h="824230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大数据平台费用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已预算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</a:tr>
              <a:tr h="824230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人力资源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费用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 271600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970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元</a:t>
                      </a: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/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人天</a:t>
                      </a: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*280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人天</a:t>
                      </a: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 = 271600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元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</a:tr>
              <a:tr h="824230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专利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费用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4000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4000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元</a:t>
                      </a: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/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件</a:t>
                      </a: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*1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件</a:t>
                      </a: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 = 4000</a:t>
                      </a:r>
                      <a:r>
                        <a:rPr kumimoji="1" lang="zh-CN" altLang="en-US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元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四</a:t>
            </a:r>
            <a:r>
              <a:rPr lang="en-US" altLang="zh-CN">
                <a:sym typeface="+mn-ea"/>
              </a:rPr>
              <a:t>、</a:t>
            </a:r>
            <a:r>
              <a:rPr lang="zh-CN" altLang="en-US">
                <a:sym typeface="+mn-ea"/>
              </a:rPr>
              <a:t>项目目标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D</a:t>
            </a:r>
            <a:r>
              <a:t>指标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99185" y="1694815"/>
          <a:ext cx="9838690" cy="4487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100"/>
                <a:gridCol w="3618230"/>
                <a:gridCol w="3896360"/>
              </a:tblGrid>
              <a:tr h="715645">
                <a:tc>
                  <a:txBody>
                    <a:bodyPr/>
                    <a:p>
                      <a:pPr algn="ctr"/>
                      <a:r>
                        <a:rPr lang="zh-CN" altLang="en-US" sz="1400" b="1" dirty="0">
                          <a:latin typeface="微软雅黑" charset="-122"/>
                          <a:ea typeface="微软雅黑" charset="-122"/>
                        </a:rPr>
                        <a:t>关键节点（日期）</a:t>
                      </a:r>
                      <a:endParaRPr lang="zh-CN" altLang="en-US" sz="1400" b="1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 b="1" dirty="0">
                          <a:latin typeface="微软雅黑" charset="-122"/>
                          <a:ea typeface="微软雅黑" charset="-122"/>
                        </a:rPr>
                        <a:t>工作内容</a:t>
                      </a:r>
                      <a:endParaRPr lang="zh-CN" altLang="en-US" sz="1400" b="1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 b="1" dirty="0">
                          <a:latin typeface="微软雅黑" charset="-122"/>
                          <a:ea typeface="微软雅黑" charset="-122"/>
                        </a:rPr>
                        <a:t>交付物</a:t>
                      </a:r>
                      <a:endParaRPr lang="zh-CN" altLang="en-US" sz="1400" b="1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</a:tr>
              <a:tr h="826770">
                <a:tc>
                  <a:txBody>
                    <a:bodyPr/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2026.5.31</a:t>
                      </a:r>
                      <a:endParaRPr lang="en-US" altLang="zh-CN" sz="1400" b="0" dirty="0">
                        <a:solidFill>
                          <a:srgbClr val="000000"/>
                        </a:solidFill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项目立项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Charter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材料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91460" marR="91460" marT="45726" marB="45726" anchor="ctr" anchorCtr="0"/>
                </a:tc>
              </a:tr>
              <a:tr h="718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2026.8.31</a:t>
                      </a:r>
                      <a:endParaRPr lang="en-US" altLang="zh-CN" sz="1400" b="0" dirty="0">
                        <a:solidFill>
                          <a:srgbClr val="000000"/>
                        </a:solidFill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整体方案确认及评审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PDCP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材料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</a:tr>
              <a:tr h="7956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2026.10.31</a:t>
                      </a:r>
                      <a:endParaRPr lang="en-US" altLang="zh-CN" sz="1400" b="0" dirty="0">
                        <a:solidFill>
                          <a:srgbClr val="000000"/>
                        </a:solidFill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完成凝霜程度识别算法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凝霜程度识别算法代码，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归档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cs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</a:tr>
              <a:tr h="7156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2026.11.30</a:t>
                      </a:r>
                      <a:endParaRPr lang="en-US" altLang="zh-CN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</a:rPr>
                        <a:t>完成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系统测试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测试报告，归档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</a:tr>
              <a:tr h="7156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  <a:sym typeface="+mn-ea"/>
                        </a:rPr>
                        <a:t>2026.12.31</a:t>
                      </a:r>
                      <a:endParaRPr lang="en-US" altLang="zh-CN" sz="1400" b="0" dirty="0"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</a:rPr>
                        <a:t>ADCP</a:t>
                      </a:r>
                      <a:endParaRPr lang="en-US" altLang="zh-CN" sz="1400" b="0" dirty="0">
                        <a:latin typeface="微软雅黑" charset="-122"/>
                        <a:ea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ADCP</a:t>
                      </a:r>
                      <a:r>
                        <a:rPr lang="zh-CN" altLang="en-US" sz="1400" b="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结项材料</a:t>
                      </a:r>
                      <a:endParaRPr lang="zh-CN" altLang="en-US" sz="1400" b="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91460" marR="91460" marT="45726" marB="45726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五</a:t>
            </a:r>
            <a:r>
              <a:rPr lang="en-US" altLang="zh-CN"/>
              <a:t>、</a:t>
            </a:r>
            <a:r>
              <a:rPr lang="zh-CN" altLang="en-US"/>
              <a:t>关键资源</a:t>
            </a:r>
            <a:r>
              <a:rPr lang="zh-CN" altLang="en-US"/>
              <a:t>计划</a:t>
            </a:r>
            <a:endParaRPr lang="zh-CN" altLang="en-US"/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850900" y="1130300"/>
          <a:ext cx="10477500" cy="5163185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1167130"/>
                <a:gridCol w="2028190"/>
                <a:gridCol w="5748020"/>
                <a:gridCol w="1534160"/>
              </a:tblGrid>
              <a:tr h="53911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spc="120">
                          <a:latin typeface="微软雅黑" charset="0"/>
                          <a:ea typeface="微软雅黑" charset="0"/>
                        </a:rPr>
                        <a:t>人员</a:t>
                      </a:r>
                      <a:endParaRPr lang="en-US" altLang="en-US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spc="120">
                          <a:latin typeface="微软雅黑" charset="0"/>
                          <a:ea typeface="微软雅黑" charset="0"/>
                        </a:rPr>
                        <a:t>角色</a:t>
                      </a:r>
                      <a:endParaRPr lang="en-US" altLang="en-US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spc="120">
                          <a:latin typeface="微软雅黑" charset="0"/>
                          <a:ea typeface="微软雅黑" charset="0"/>
                        </a:rPr>
                        <a:t>工作内容</a:t>
                      </a:r>
                      <a:endParaRPr lang="en-US" altLang="en-US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计划工作量(人天)</a:t>
                      </a:r>
                      <a:endParaRPr lang="en-US" sz="14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/>
                </a:tc>
              </a:tr>
              <a:tr h="30861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altLang="en-US" sz="1200" spc="120" dirty="0">
                          <a:latin typeface="微软雅黑" charset="0"/>
                          <a:ea typeface="微软雅黑" charset="0"/>
                        </a:rPr>
                        <a:t>李甜甜</a:t>
                      </a:r>
                      <a:endParaRPr lang="en-US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项目经理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项目总体管理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30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</a:tr>
              <a:tr h="30861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尚靖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资源协调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资源协调，系统架构方案评审决策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10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</a:tr>
              <a:tr h="3079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文俊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实验测试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实验设备调研，数据传输开发；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20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</a:tr>
              <a:tr h="3079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赵宁德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实验环境搭建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实验样机协调；实验环境场景布置。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35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</a:tr>
              <a:tr h="30861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王绍岗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数据系统开发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系统开发方案评审，试验机测试。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15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</a:tr>
              <a:tr h="3079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龙俊才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数据开发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数据处理，算法部署。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10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</a:tr>
              <a:tr h="30861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曹溯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后端开发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凝霜程度识别系统后端开发。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20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</a:tr>
              <a:tr h="3079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王远椉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前端开发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凝霜程度识别系统前端开发。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10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</a:tr>
              <a:tr h="30861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谢豪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数据挖掘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大数据分析IoT用户数据。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10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</a:tr>
              <a:tr h="3079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李云涛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凝霜标签集创建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数据特征分析，创建IoT用户凝霜程度标签集。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35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</a:tr>
              <a:tr h="3079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蒋婉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算法开发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开发冰箱凝霜预测算法模型。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35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</a:tr>
              <a:tr h="3079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李甜甜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算法开发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凝霜程度预测算法协助，设计凝霜程度的化霜策略研究。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30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</a:tr>
              <a:tr h="3092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徐凯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测试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系统测试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20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</a:tr>
              <a:tr h="3079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陈俊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200" spc="120" dirty="0">
                          <a:latin typeface="微软雅黑" charset="0"/>
                          <a:ea typeface="微软雅黑" charset="0"/>
                        </a:rPr>
                        <a:t>制冷专家</a:t>
                      </a: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1200" spc="120" dirty="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</a:tr>
              <a:tr h="30797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2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b="0" spc="120" dirty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总人天</a:t>
                      </a:r>
                      <a:endParaRPr lang="zh-CN" altLang="en-US" sz="1200" b="0" spc="120" dirty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b="0" spc="120" dirty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280</a:t>
                      </a:r>
                      <a:endParaRPr lang="zh-CN" altLang="en-US" sz="1200" b="0" spc="120" dirty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 smtClean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六、财务</a:t>
            </a:r>
            <a:r>
              <a:rPr lang="zh-CN" altLang="en-US" b="1" dirty="0" smtClean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计划</a:t>
            </a:r>
            <a:r>
              <a:rPr lang="en-US" altLang="zh-CN" b="1" dirty="0" smtClean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-</a:t>
            </a:r>
            <a:r>
              <a:rPr lang="zh-CN" altLang="en-US" b="1" dirty="0" smtClean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投入</a:t>
            </a:r>
            <a:endParaRPr lang="zh-CN" altLang="en-US"/>
          </a:p>
        </p:txBody>
      </p:sp>
      <p:graphicFrame>
        <p:nvGraphicFramePr>
          <p:cNvPr id="37963" name="Group 7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55040" y="1436370"/>
          <a:ext cx="10087610" cy="3394710"/>
        </p:xfrm>
        <a:graphic>
          <a:graphicData uri="http://schemas.openxmlformats.org/drawingml/2006/table">
            <a:tbl>
              <a:tblPr/>
              <a:tblGrid>
                <a:gridCol w="2110105"/>
                <a:gridCol w="3326765"/>
                <a:gridCol w="1247775"/>
                <a:gridCol w="1231265"/>
                <a:gridCol w="1254760"/>
                <a:gridCol w="916940"/>
              </a:tblGrid>
              <a:tr h="66802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费用项目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MISS</a:t>
                      </a: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业务活动类型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预算金额（万）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概念计划阶段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开发验证阶段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转移阶段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308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实验室采集软件开发费用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fontAlgn="ctr" hangingPunct="1">
                        <a:buNone/>
                      </a:pP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974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中转服务器</a:t>
                      </a: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(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美菱</a:t>
                      </a: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)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6933" marR="16933" marT="16933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5770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大数据平台费用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7985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人力资源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费用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-122"/>
                          <a:ea typeface="微软雅黑" charset="-122"/>
                          <a:sym typeface="+mn-ea"/>
                        </a:rPr>
                        <a:t> 271600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16933" marR="16933" marT="16933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4970"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专利</a:t>
                      </a:r>
                      <a:r>
                        <a:rPr kumimoji="1" lang="zh-CN" altLang="en-US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费用</a:t>
                      </a:r>
                      <a:endParaRPr kumimoji="1" lang="zh-CN" altLang="en-US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6933" marR="16933" marT="16933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4000</a:t>
                      </a:r>
                      <a:endParaRPr kumimoji="1" lang="en-US" altLang="zh-CN" sz="1400" b="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6933" marR="16933" marT="16933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合计（万）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55040" y="5362575"/>
            <a:ext cx="810577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FF0000"/>
                </a:solidFill>
                <a:latin typeface="Times New Roman" panose="02020503050405090304" charset="0"/>
                <a:ea typeface="微软雅黑" charset="-122"/>
                <a:cs typeface="Times New Roman" panose="02020503050405090304" charset="0"/>
                <a:sym typeface="+mn-ea"/>
              </a:rPr>
              <a:t>备注：虹美人员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503050405090304" charset="0"/>
                <a:ea typeface="微软雅黑" charset="-122"/>
                <a:cs typeface="Times New Roman" panose="02020503050405090304" charset="0"/>
                <a:sym typeface="+mn-ea"/>
              </a:rPr>
              <a:t>成本970元/人*天</a:t>
            </a:r>
            <a:endParaRPr lang="zh-CN" altLang="en-US" sz="1600" dirty="0">
              <a:solidFill>
                <a:srgbClr val="FF0000"/>
              </a:solidFill>
              <a:latin typeface="Times New Roman" panose="02020503050405090304" charset="0"/>
              <a:ea typeface="微软雅黑" charset="-122"/>
              <a:cs typeface="Times New Roman" panose="02020503050405090304" charset="0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FF0000"/>
                </a:solidFill>
                <a:latin typeface="Times New Roman" panose="02020503050405090304" charset="0"/>
                <a:ea typeface="微软雅黑" charset="-122"/>
                <a:cs typeface="Times New Roman" panose="02020503050405090304" charset="0"/>
                <a:sym typeface="+mn-ea"/>
              </a:rPr>
              <a:t>专利成本：每件4000元。</a:t>
            </a:r>
            <a:r>
              <a:rPr lang="en-US" altLang="zh-CN" sz="1600" dirty="0">
                <a:latin typeface="Times New Roman" panose="02020503050405090304" charset="0"/>
                <a:ea typeface="微软雅黑" charset="-122"/>
                <a:cs typeface="Times New Roman" panose="02020503050405090304" charset="0"/>
                <a:sym typeface="+mn-ea"/>
              </a:rPr>
              <a:t>    </a:t>
            </a:r>
            <a:r>
              <a:rPr lang="zh-CN" altLang="en-US" sz="1600" dirty="0">
                <a:latin typeface="Times New Roman" panose="02020503050405090304" charset="0"/>
                <a:ea typeface="微软雅黑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1600" dirty="0" smtClean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  </a:t>
            </a:r>
            <a:endParaRPr lang="zh-CN" altLang="en-US" sz="1600" dirty="0" smtClean="0"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 smtClean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七、</a:t>
            </a:r>
            <a:r>
              <a:rPr lang="zh-CN" altLang="en-US" b="1" dirty="0" smtClean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产出和收益</a:t>
            </a:r>
            <a:endParaRPr lang="zh-CN" altLang="en-US"/>
          </a:p>
        </p:txBody>
      </p:sp>
      <p:sp>
        <p:nvSpPr>
          <p:cNvPr id="11266" name="矩形 3"/>
          <p:cNvSpPr/>
          <p:nvPr>
            <p:custDataLst>
              <p:tags r:id="rId1"/>
            </p:custDataLst>
          </p:nvPr>
        </p:nvSpPr>
        <p:spPr>
          <a:xfrm>
            <a:off x="954405" y="1678305"/>
            <a:ext cx="8562340" cy="3500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b="1" dirty="0">
                <a:solidFill>
                  <a:srgbClr val="FF0000"/>
                </a:solidFill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计划产出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：</a:t>
            </a:r>
            <a:endParaRPr lang="en-US" altLang="zh-CN" b="1" dirty="0">
              <a:solidFill>
                <a:srgbClr val="FF0000"/>
              </a:solidFill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400" b="1" dirty="0">
                <a:solidFill>
                  <a:srgbClr val="FF0000"/>
                </a:solidFill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    </a:t>
            </a:r>
            <a:r>
              <a:rPr lang="en-US" sz="1400" b="1" dirty="0">
                <a:solidFill>
                  <a:srgbClr val="FF0000"/>
                </a:solidFill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XXX</a:t>
            </a:r>
            <a:endParaRPr lang="en-US" sz="1400" b="1" dirty="0">
              <a:solidFill>
                <a:srgbClr val="FF0000"/>
              </a:solidFill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en-US" sz="16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sz="1800" b="1" dirty="0">
                <a:solidFill>
                  <a:srgbClr val="FF0000"/>
                </a:solidFill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计划收益：</a:t>
            </a:r>
            <a:endParaRPr lang="zh-CN" sz="1800" b="1" dirty="0">
              <a:solidFill>
                <a:srgbClr val="FF0000"/>
              </a:solidFill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示例：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①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增加卖点带来溢价</a:t>
            </a:r>
            <a:endParaRPr lang="zh-CN" altLang="en-US" sz="1800" b="1" dirty="0">
              <a:solidFill>
                <a:srgbClr val="FF0000"/>
              </a:solidFill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            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②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降低成本</a:t>
            </a:r>
            <a:endParaRPr lang="zh-CN" altLang="en-US" sz="1800" b="1" dirty="0">
              <a:solidFill>
                <a:srgbClr val="FF0000"/>
              </a:solidFill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            </a:t>
            </a:r>
            <a:r>
              <a:rPr lang="en-US" altLang="en-US" sz="1800" b="1" dirty="0">
                <a:solidFill>
                  <a:srgbClr val="FF0000"/>
                </a:solidFill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③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提效减人（或者换算为：一年内，节约的工作量时长</a:t>
            </a:r>
            <a:r>
              <a:rPr lang="zh-CN" altLang="en-US" sz="1800" b="1" dirty="0">
                <a:latin typeface="Times New Roman" panose="02020503050405090304" charset="0"/>
                <a:ea typeface="微软雅黑" charset="-122"/>
                <a:cs typeface="Times New Roman" panose="02020503050405090304" charset="0"/>
              </a:rPr>
              <a:t>）</a:t>
            </a:r>
            <a:endParaRPr lang="zh-CN" altLang="en-US" sz="1800" b="1" dirty="0">
              <a:latin typeface="Times New Roman" panose="02020503050405090304" charset="0"/>
              <a:ea typeface="微软雅黑" charset="-122"/>
              <a:cs typeface="Times New Roman" panose="02020503050405090304" charset="0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en-US" sz="16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en-US" sz="16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 smtClean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八、风险及问题管理</a:t>
            </a:r>
            <a:endParaRPr lang="zh-CN" altLang="en-US"/>
          </a:p>
        </p:txBody>
      </p:sp>
      <p:graphicFrame>
        <p:nvGraphicFramePr>
          <p:cNvPr id="6" name="Group 3"/>
          <p:cNvGraphicFramePr/>
          <p:nvPr>
            <p:custDataLst>
              <p:tags r:id="rId1"/>
            </p:custDataLst>
          </p:nvPr>
        </p:nvGraphicFramePr>
        <p:xfrm>
          <a:off x="883285" y="1440180"/>
          <a:ext cx="9943465" cy="3954780"/>
        </p:xfrm>
        <a:graphic>
          <a:graphicData uri="http://schemas.openxmlformats.org/drawingml/2006/table">
            <a:tbl>
              <a:tblPr/>
              <a:tblGrid>
                <a:gridCol w="696595"/>
                <a:gridCol w="3033395"/>
                <a:gridCol w="903605"/>
                <a:gridCol w="924560"/>
                <a:gridCol w="928370"/>
                <a:gridCol w="2572385"/>
                <a:gridCol w="884555"/>
              </a:tblGrid>
              <a:tr h="701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类别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风险名称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概率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影响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优先级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应对措施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责任人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020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性能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高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大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高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en-US" altLang="zh-CN" sz="1200" b="0" i="0" u="none" strike="noStrike" cap="none" normalizeH="0" baseline="0" dirty="0" smtClean="0">
                        <a:ln>
                          <a:noFill/>
                        </a:ln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项目组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24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成本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zh-CN" altLang="en-US" sz="12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zh-CN" altLang="en-US" sz="1200" dirty="0" smtClean="0">
                          <a:ln>
                            <a:noFill/>
                          </a:ln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中</a:t>
                      </a:r>
                      <a:endParaRPr lang="zh-CN" altLang="en-US" sz="1200" dirty="0" smtClean="0">
                        <a:ln>
                          <a:noFill/>
                        </a:ln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zh-CN" altLang="en-US" sz="1200" dirty="0" smtClean="0">
                          <a:ln>
                            <a:noFill/>
                          </a:ln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大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高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90204" pitchFamily="34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Font typeface="Arial" panose="020B0604020202090204" pitchFamily="34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Font typeface="Arial" panose="020B0604020202090204" pitchFamily="34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90204" pitchFamily="34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项目组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26160"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性能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zh-CN" altLang="en-US" sz="12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zh-CN" altLang="en-US" sz="1200" dirty="0" smtClean="0">
                          <a:ln>
                            <a:noFill/>
                          </a:ln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中</a:t>
                      </a:r>
                      <a:endParaRPr lang="zh-CN" altLang="en-US" sz="1200" dirty="0" smtClean="0">
                        <a:ln>
                          <a:noFill/>
                        </a:ln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小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中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 smtClean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九、</a:t>
            </a:r>
            <a:r>
              <a:rPr lang="zh-CN" altLang="en-US" b="1" dirty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结</a:t>
            </a:r>
            <a:r>
              <a:rPr lang="en-US" altLang="zh-CN" b="1" dirty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论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73100" y="1002665"/>
            <a:ext cx="2291715" cy="572135"/>
          </a:xfrm>
        </p:spPr>
        <p:txBody>
          <a:bodyPr/>
          <a:p>
            <a:r>
              <a:rPr lang="zh-CN" altLang="en-US"/>
              <a:t>项目分级</a:t>
            </a:r>
            <a:r>
              <a:rPr lang="zh-CN" altLang="en-US"/>
              <a:t>建议</a:t>
            </a:r>
            <a:endParaRPr lang="zh-CN" altLang="en-US"/>
          </a:p>
        </p:txBody>
      </p:sp>
      <p:graphicFrame>
        <p:nvGraphicFramePr>
          <p:cNvPr id="4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73100" y="2392045"/>
          <a:ext cx="10043795" cy="3345815"/>
        </p:xfrm>
        <a:graphic>
          <a:graphicData uri="http://schemas.openxmlformats.org/drawingml/2006/table">
            <a:tbl>
              <a:tblPr/>
              <a:tblGrid>
                <a:gridCol w="2512060"/>
                <a:gridCol w="2042160"/>
                <a:gridCol w="2538095"/>
                <a:gridCol w="2951480"/>
              </a:tblGrid>
              <a:tr h="65913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</a:rPr>
                        <a:t>评价指标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</a:rPr>
                        <a:t>重要性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</a:rPr>
                        <a:t>创新先进性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</a:rPr>
                        <a:t>难度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2964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</a:rPr>
                        <a:t>关键</a:t>
                      </a: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</a:rPr>
                        <a:t>需求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</a:rPr>
                        <a:t>行业</a:t>
                      </a: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</a:rPr>
                        <a:t>标杆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  <a:cs typeface="Times New Roman" panose="02020503050405090304" charset="0"/>
                        </a:rPr>
                        <a:t>主要技术涉及专业模块≥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  <a:cs typeface="Times New Roman" panose="02020503050405090304" charset="0"/>
                        </a:rPr>
                        <a:t>4</a:t>
                      </a: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  <a:cs typeface="Times New Roman" panose="02020503050405090304" charset="0"/>
                        </a:rPr>
                        <a:t>个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</a:rPr>
                        <a:t>单项得分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  <a:cs typeface="Times New Roman" panose="02020503050405090304" charset="0"/>
                        </a:rPr>
                        <a:t>8.5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  <a:cs typeface="Times New Roman" panose="02020503050405090304" charset="0"/>
                        </a:rPr>
                        <a:t>9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  <a:cs typeface="Times New Roman" panose="02020503050405090304" charset="0"/>
                        </a:rPr>
                        <a:t>9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11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</a:rPr>
                        <a:t>总得分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  <a:cs typeface="Times New Roman" panose="02020503050405090304" charset="0"/>
                        </a:rPr>
                        <a:t>重要性*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  <a:cs typeface="Times New Roman" panose="02020503050405090304" charset="0"/>
                        </a:rPr>
                        <a:t>40%+</a:t>
                      </a: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  <a:cs typeface="Times New Roman" panose="02020503050405090304" charset="0"/>
                        </a:rPr>
                        <a:t>创新水平*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  <a:cs typeface="Times New Roman" panose="02020503050405090304" charset="0"/>
                        </a:rPr>
                        <a:t>40%+</a:t>
                      </a: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  <a:cs typeface="Times New Roman" panose="02020503050405090304" charset="0"/>
                        </a:rPr>
                        <a:t>难度*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  <a:cs typeface="Times New Roman" panose="02020503050405090304" charset="0"/>
                        </a:rPr>
                        <a:t>20%=8.8</a:t>
                      </a:r>
                      <a:endParaRPr kumimoji="0" lang="zh-CN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650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</a:rPr>
                        <a:t>建议项目等级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ea typeface="微软雅黑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charset="0"/>
                          <a:ea typeface="微软雅黑" charset="-122"/>
                          <a:cs typeface="Times New Roman" panose="02020503050405090304" charset="0"/>
                        </a:rPr>
                        <a:t>B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charset="0"/>
                        <a:ea typeface="微软雅黑" charset="-122"/>
                        <a:cs typeface="Times New Roman" panose="0202050305040509030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6653" name="Rectangle 2"/>
          <p:cNvSpPr/>
          <p:nvPr>
            <p:custDataLst>
              <p:tags r:id="rId2"/>
            </p:custDataLst>
          </p:nvPr>
        </p:nvSpPr>
        <p:spPr>
          <a:xfrm>
            <a:off x="703263" y="1802448"/>
            <a:ext cx="6840537" cy="419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>
              <a:lnSpc>
                <a:spcPct val="125000"/>
              </a:lnSpc>
            </a:pPr>
            <a:r>
              <a:rPr lang="zh-CN" altLang="en-US" sz="1600" b="1" dirty="0">
                <a:latin typeface="微软雅黑" charset="-122"/>
                <a:ea typeface="微软雅黑" charset="-122"/>
              </a:rPr>
              <a:t>根据技术创新项目分级管理方法，对本项目等级评估如下：</a:t>
            </a:r>
            <a:endParaRPr lang="zh-CN" altLang="en-US" sz="1600" b="1" dirty="0"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 smtClean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九</a:t>
            </a:r>
            <a:r>
              <a:rPr lang="zh-CN" altLang="en-US" b="1" dirty="0" smtClean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、</a:t>
            </a:r>
            <a:r>
              <a:rPr lang="zh-CN" altLang="en-US" b="1" dirty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结</a:t>
            </a:r>
            <a:r>
              <a:rPr lang="en-US" altLang="zh-CN" b="1" dirty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论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446530" y="1584325"/>
            <a:ext cx="8679180" cy="309562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/>
          <a:lstStyle/>
          <a:p>
            <a:pPr marL="0" indent="0" eaLnBrk="1" latinLnBrk="0" hangingPunct="1">
              <a:lnSpc>
                <a:spcPts val="3620"/>
              </a:lnSpc>
              <a:spcBef>
                <a:spcPts val="0"/>
              </a:spcBef>
              <a:buClr>
                <a:srgbClr val="00B05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1600" noProof="0" dirty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超低噪音产品研发既是市场趋势也是当前产品需求，通过此项目开展</a:t>
            </a:r>
            <a:endParaRPr lang="en-US" altLang="zh-CN" sz="1600" noProof="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marL="285750" indent="-285750" eaLnBrk="1" latinLnBrk="0" hangingPunct="1">
              <a:lnSpc>
                <a:spcPts val="3620"/>
              </a:lnSpc>
              <a:spcBef>
                <a:spcPts val="0"/>
              </a:spcBef>
              <a:buClr>
                <a:srgbClr val="00B050"/>
              </a:buClr>
              <a:buFont typeface="Wingdings" panose="05000000000000000000" charset="0"/>
              <a:buChar char="Ø"/>
              <a:defRPr/>
            </a:pPr>
            <a:r>
              <a:rPr lang="zh-CN" altLang="en-US" sz="1600" noProof="0" dirty="0" smtClean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完成</a:t>
            </a:r>
            <a:endParaRPr lang="zh-CN" altLang="en-US" sz="1600" noProof="0" dirty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marL="285750" indent="-285750" eaLnBrk="1" latinLnBrk="0" hangingPunct="1">
              <a:lnSpc>
                <a:spcPts val="3620"/>
              </a:lnSpc>
              <a:spcBef>
                <a:spcPts val="0"/>
              </a:spcBef>
              <a:buClr>
                <a:srgbClr val="00B050"/>
              </a:buClr>
              <a:buFont typeface="Wingdings" panose="05000000000000000000" charset="0"/>
              <a:buChar char="Ø"/>
              <a:defRPr/>
            </a:pPr>
            <a:r>
              <a:rPr lang="zh-CN" altLang="en-US" sz="1600" noProof="0" dirty="0" smtClean="0">
                <a:solidFill>
                  <a:schemeClr val="tx1"/>
                </a:solidFill>
                <a:latin typeface="微软雅黑" charset="-122"/>
                <a:ea typeface="微软雅黑" charset="-122"/>
                <a:sym typeface="+mn-ea"/>
              </a:rPr>
              <a:t>完成。</a:t>
            </a:r>
            <a:endParaRPr lang="zh-CN" altLang="en-US" sz="1600" noProof="0" dirty="0" smtClean="0">
              <a:solidFill>
                <a:schemeClr val="tx1"/>
              </a:solidFill>
              <a:latin typeface="微软雅黑" charset="-122"/>
              <a:ea typeface="微软雅黑" charset="-122"/>
              <a:sym typeface="+mn-ea"/>
            </a:endParaRPr>
          </a:p>
          <a:p>
            <a:pPr marL="285750" indent="-285750" eaLnBrk="1" latinLnBrk="0" hangingPunct="1">
              <a:lnSpc>
                <a:spcPts val="3620"/>
              </a:lnSpc>
              <a:spcBef>
                <a:spcPts val="0"/>
              </a:spcBef>
              <a:buClr>
                <a:srgbClr val="00B050"/>
              </a:buClr>
              <a:buFont typeface="Wingdings" panose="05000000000000000000" charset="0"/>
              <a:buChar char="Ø"/>
              <a:defRPr/>
            </a:pPr>
            <a:r>
              <a:rPr lang="zh-CN" altLang="en-US" sz="1600" dirty="0" smtClean="0">
                <a:latin typeface="微软雅黑" charset="-122"/>
                <a:ea typeface="微软雅黑" charset="-122"/>
                <a:sym typeface="+mn-ea"/>
              </a:rPr>
              <a:t>不涉及成本增加的</a:t>
            </a:r>
            <a:endParaRPr lang="en-US" altLang="zh-CN" sz="1600" dirty="0" smtClean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1875155" y="5050790"/>
            <a:ext cx="6692265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charset="-122"/>
                <a:ea typeface="微软雅黑" charset="-122"/>
              </a:rPr>
              <a:t>建议项目经理为</a:t>
            </a:r>
            <a:r>
              <a:rPr lang="zh-CN" altLang="en-US" b="1" dirty="0" smtClean="0">
                <a:latin typeface="微软雅黑" charset="-122"/>
                <a:ea typeface="微软雅黑" charset="-122"/>
              </a:rPr>
              <a:t>：</a:t>
            </a:r>
            <a:endParaRPr lang="zh-CN" altLang="en-US" b="1" dirty="0" smtClean="0">
              <a:latin typeface="微软雅黑" charset="-122"/>
              <a:ea typeface="微软雅黑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75155" y="5789930"/>
            <a:ext cx="7002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charset="-122"/>
                <a:ea typeface="微软雅黑" charset="-122"/>
                <a:sym typeface="+mn-ea"/>
              </a:rPr>
              <a:t>恳请</a:t>
            </a:r>
            <a:r>
              <a:rPr lang="en-US" altLang="zh-CN" b="1" dirty="0">
                <a:latin typeface="微软雅黑" charset="-122"/>
                <a:ea typeface="微软雅黑" charset="-122"/>
                <a:sym typeface="+mn-ea"/>
              </a:rPr>
              <a:t>IPMT</a:t>
            </a:r>
            <a:r>
              <a:rPr lang="zh-CN" altLang="en-US" b="1" dirty="0">
                <a:latin typeface="微软雅黑" charset="-122"/>
                <a:ea typeface="微软雅黑" charset="-122"/>
                <a:sym typeface="+mn-ea"/>
              </a:rPr>
              <a:t>批准此项目的</a:t>
            </a:r>
            <a:r>
              <a:rPr lang="en-US" altLang="zh-CN" b="1" dirty="0">
                <a:latin typeface="微软雅黑" charset="-122"/>
                <a:ea typeface="微软雅黑" charset="-122"/>
                <a:sym typeface="+mn-ea"/>
              </a:rPr>
              <a:t>《</a:t>
            </a:r>
            <a:r>
              <a:rPr lang="zh-CN" altLang="en-US" b="1" dirty="0">
                <a:latin typeface="微软雅黑" charset="-122"/>
                <a:ea typeface="微软雅黑" charset="-122"/>
                <a:sym typeface="+mn-ea"/>
              </a:rPr>
              <a:t>项目授权书</a:t>
            </a:r>
            <a:r>
              <a:rPr lang="en-US" altLang="zh-CN" b="1" dirty="0">
                <a:latin typeface="微软雅黑" charset="-122"/>
                <a:ea typeface="微软雅黑" charset="-122"/>
                <a:sym typeface="+mn-ea"/>
              </a:rPr>
              <a:t>》</a:t>
            </a:r>
            <a:r>
              <a:rPr lang="zh-CN" altLang="en-US" b="1" dirty="0">
                <a:latin typeface="微软雅黑" charset="-122"/>
                <a:ea typeface="微软雅黑" charset="-122"/>
                <a:sym typeface="+mn-ea"/>
              </a:rPr>
              <a:t>，使之转入概念计划阶段。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95700" y="365125"/>
            <a:ext cx="4695190" cy="396240"/>
          </a:xfrm>
        </p:spPr>
        <p:txBody>
          <a:bodyPr/>
          <a:p>
            <a:r>
              <a:rPr lang="zh-CN" b="1" dirty="0" smtClean="0">
                <a:solidFill>
                  <a:srgbClr val="0070C0"/>
                </a:solidFill>
                <a:latin typeface="微软雅黑" charset="-122"/>
                <a:ea typeface="微软雅黑" charset="-122"/>
                <a:sym typeface="+mn-ea"/>
              </a:rPr>
              <a:t>专业技术委员会评审意见</a:t>
            </a:r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55650" y="1417955"/>
          <a:ext cx="10281285" cy="3413760"/>
        </p:xfrm>
        <a:graphic>
          <a:graphicData uri="http://schemas.openxmlformats.org/drawingml/2006/table">
            <a:tbl>
              <a:tblPr/>
              <a:tblGrid>
                <a:gridCol w="1932305"/>
                <a:gridCol w="5740400"/>
                <a:gridCol w="2608580"/>
              </a:tblGrid>
              <a:tr h="568960">
                <a:tc>
                  <a:txBody>
                    <a:bodyPr/>
                    <a:lstStyle/>
                    <a:p>
                      <a:pPr marL="0" algn="ctr" fontAlgn="ctr">
                        <a:lnSpc>
                          <a:spcPts val="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altLang="en-US" sz="1400" b="1" i="0" spc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委员</a:t>
                      </a:r>
                      <a:endParaRPr lang="zh-CN" altLang="en-US" sz="1400" b="1" dirty="0">
                        <a:latin typeface="+mn-ea"/>
                        <a:ea typeface="+mn-ea"/>
                      </a:endParaRPr>
                    </a:p>
                  </a:txBody>
                  <a:tcPr marL="51036" marR="51036" anchor="ctr">
                    <a:lnL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ts val="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altLang="en-US" sz="1400" b="1" i="0" spc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意见</a:t>
                      </a:r>
                      <a:r>
                        <a:rPr lang="en-US" altLang="zh-CN" sz="1400" b="1" i="0" spc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&amp;</a:t>
                      </a:r>
                      <a:r>
                        <a:rPr lang="zh-CN" altLang="en-US" sz="1400" b="1" i="0" spc="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建议</a:t>
                      </a:r>
                      <a:endParaRPr lang="zh-CN" altLang="en-US" sz="1400" b="1" dirty="0">
                        <a:latin typeface="+mn-ea"/>
                        <a:ea typeface="+mn-ea"/>
                      </a:endParaRPr>
                    </a:p>
                  </a:txBody>
                  <a:tcPr marL="51036" marR="51036" anchor="ctr">
                    <a:lnL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ts val="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zh-CN" altLang="en-US" sz="1400" b="1" dirty="0">
                          <a:latin typeface="+mn-ea"/>
                          <a:ea typeface="+mn-ea"/>
                        </a:rPr>
                        <a:t>结论</a:t>
                      </a:r>
                      <a:endParaRPr lang="zh-CN" altLang="en-US" sz="1400" b="1" dirty="0">
                        <a:latin typeface="+mn-ea"/>
                        <a:ea typeface="+mn-ea"/>
                      </a:endParaRPr>
                    </a:p>
                  </a:txBody>
                  <a:tcPr marL="51036" marR="51036" anchor="ctr">
                    <a:lnL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marL="0" algn="ctr" fontAlgn="ctr">
                        <a:lnSpc>
                          <a:spcPts val="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51036" marR="51036" anchor="ctr">
                    <a:lnL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fontAlgn="ctr">
                        <a:lnSpc>
                          <a:spcPts val="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51036" marR="51036" anchor="ctr">
                    <a:lnL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ts val="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51036" marR="51036" anchor="ctr">
                    <a:lnL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marL="0" algn="ctr" fontAlgn="ctr">
                        <a:lnSpc>
                          <a:spcPts val="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51036" marR="51036" anchor="ctr">
                    <a:lnL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fontAlgn="ctr">
                        <a:lnSpc>
                          <a:spcPts val="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51036" marR="51036" anchor="ctr">
                    <a:lnL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fontAlgn="ctr">
                        <a:lnSpc>
                          <a:spcPts val="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51036" marR="51036" anchor="ctr">
                    <a:lnL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marL="0" algn="ctr" fontAlgn="ctr">
                        <a:lnSpc>
                          <a:spcPts val="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51036" marR="51036" anchor="ctr">
                    <a:lnL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fontAlgn="ctr">
                        <a:lnSpc>
                          <a:spcPts val="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51036" marR="51036" anchor="ctr">
                    <a:lnL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ts val="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51036" marR="51036" anchor="ctr">
                    <a:lnL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marL="0" algn="ctr" fontAlgn="ctr">
                        <a:lnSpc>
                          <a:spcPts val="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51036" marR="51036" anchor="ctr">
                    <a:lnL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fontAlgn="ctr">
                        <a:lnSpc>
                          <a:spcPts val="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51036" marR="51036" anchor="ctr">
                    <a:lnL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ts val="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51036" marR="51036" anchor="ctr">
                    <a:lnL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marL="0" algn="ctr" fontAlgn="ctr">
                        <a:lnSpc>
                          <a:spcPts val="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51036" marR="51036" anchor="ctr">
                    <a:lnL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fontAlgn="ctr">
                        <a:lnSpc>
                          <a:spcPts val="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51036" marR="51036" anchor="ctr">
                    <a:lnL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lnSpc>
                          <a:spcPts val="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marL="51036" marR="51036" anchor="ctr">
                    <a:lnL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088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411" name="Text Box 5"/>
          <p:cNvSpPr txBox="1">
            <a:spLocks noChangeArrowheads="1"/>
          </p:cNvSpPr>
          <p:nvPr/>
        </p:nvSpPr>
        <p:spPr bwMode="auto">
          <a:xfrm>
            <a:off x="868680" y="5502275"/>
            <a:ext cx="6847205" cy="79184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/>
          <a:p>
            <a:pPr marL="0" indent="0" eaLnBrk="1" latinLnBrk="0" hangingPunct="1">
              <a:lnSpc>
                <a:spcPts val="3620"/>
              </a:lnSpc>
              <a:spcBef>
                <a:spcPts val="0"/>
              </a:spcBef>
              <a:buClr>
                <a:srgbClr val="00B05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1600" b="1" noProof="0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备注：自评等级是</a:t>
            </a:r>
            <a:r>
              <a:rPr lang="en-US" altLang="zh-CN" sz="1600" b="1" noProof="0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B</a:t>
            </a:r>
            <a:r>
              <a:rPr lang="zh-CN" altLang="en-US" sz="1600" b="1" noProof="0" dirty="0">
                <a:solidFill>
                  <a:srgbClr val="FF0000"/>
                </a:solidFill>
                <a:latin typeface="微软雅黑" charset="-122"/>
                <a:ea typeface="微软雅黑" charset="-122"/>
                <a:sym typeface="+mn-ea"/>
              </a:rPr>
              <a:t>级的，此页删除</a:t>
            </a:r>
            <a:endParaRPr lang="zh-CN" altLang="en-US" sz="1600" b="1" noProof="0" dirty="0" smtClean="0">
              <a:solidFill>
                <a:srgbClr val="FF0000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TABLE_ENDDRAG_ORIGIN_RECT" val="835*382"/>
  <p:tag name="TABLE_ENDDRAG_RECT" val="53*114*835*382"/>
</p:tagLst>
</file>

<file path=ppt/tags/tag5.xml><?xml version="1.0" encoding="utf-8"?>
<p:tagLst xmlns:p="http://schemas.openxmlformats.org/presentationml/2006/main">
  <p:tag name="KSO_WM_UNIT_TABLE_BEAUTIFY" val="smartTable{02fa27e3-5317-4632-b523-991c38de2032}"/>
  <p:tag name="TABLE_ENDDRAG_ORIGIN_RECT" val="845*373"/>
  <p:tag name="TABLE_ENDDRAG_RECT" val="68*136*845*373"/>
</p:tagLst>
</file>

<file path=ppt/tags/tag6.xml><?xml version="1.0" encoding="utf-8"?>
<p:tagLst xmlns:p="http://schemas.openxmlformats.org/presentationml/2006/main">
  <p:tag name="KSO_WM_UNIT_TABLE_BEAUTIFY" val="smartTable{456f3cf2-67f7-47c0-950e-de5e0bc46dd2}"/>
  <p:tag name="TABLE_ENDDRAG_ORIGIN_RECT" val="774*353"/>
  <p:tag name="TABLE_ENDDRAG_RECT" val="86*141*774*353"/>
  <p:tag name="KSO_WM_BEAUTIFY_FLAG" val=""/>
</p:tagLst>
</file>

<file path=ppt/tags/tag7.xml><?xml version="1.0" encoding="utf-8"?>
<p:tagLst xmlns:p="http://schemas.openxmlformats.org/presentationml/2006/main">
  <p:tag name="TABLE_ENDDRAG_ORIGIN_RECT" val="825*419"/>
  <p:tag name="TABLE_ENDDRAG_RECT" val="67*89*825*419"/>
  <p:tag name="TABLE_AUTOADJUST_FLAG" val="1"/>
</p:tagLst>
</file>

<file path=ppt/tags/tag8.xml><?xml version="1.0" encoding="utf-8"?>
<p:tagLst xmlns:p="http://schemas.openxmlformats.org/presentationml/2006/main">
  <p:tag name="KSO_WM_UNIT_TABLE_BEAUTIFY" val="smartTable{7d578a28-e5cc-4f7d-af35-5747fc55c2ed}"/>
  <p:tag name="KSO_WM_BEAUTIFY_FLAG" val=""/>
  <p:tag name="TABLE_ENDDRAG_ORIGIN_RECT" val="794*267"/>
  <p:tag name="TABLE_ENDDRAG_RECT" val="75*113*794*267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UNIT_TABLE_BEAUTIFY" val="smartTable{dd3d5a14-9673-424e-9f32-6e115e34d700}"/>
  <p:tag name="TABLE_ENDDRAG_ORIGIN_RECT" val="782*311"/>
  <p:tag name="TABLE_ENDDRAG_RECT" val="69*113*782*311"/>
</p:tagLst>
</file>

<file path=ppt/tags/tag11.xml><?xml version="1.0" encoding="utf-8"?>
<p:tagLst xmlns:p="http://schemas.openxmlformats.org/presentationml/2006/main">
  <p:tag name="KSO_WM_UNIT_TABLE_BEAUTIFY" val="smartTable{1c64243b-85fe-4b6a-acb5-6eeeeddb889e}"/>
  <p:tag name="KSO_WM_BEAUTIFY_FLAG" val=""/>
  <p:tag name="TABLE_ENDDRAG_ORIGIN_RECT" val="790*263"/>
  <p:tag name="TABLE_ENDDRAG_RECT" val="53*188*790*263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UNIT_TABLE_BEAUTIFY" val="smartTable{7025a646-202b-4199-a8e3-0dca269c818b}"/>
  <p:tag name="KSO_WM_BEAUTIFY_FLAG" val=""/>
  <p:tag name="TABLE_ENDDRAG_ORIGIN_RECT" val="809*268"/>
  <p:tag name="TABLE_ENDDRAG_RECT" val="59*111*809*268"/>
</p:tagLst>
</file>

<file path=ppt/tags/tag14.xml><?xml version="1.0" encoding="utf-8"?>
<p:tagLst xmlns:p="http://schemas.openxmlformats.org/presentationml/2006/main">
  <p:tag name="resource_record_key" val="{&quot;29&quot;:[50053044,50053052,50053017,50053024,50053164,50053072,50053368,50053092,50053364,50000061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1768</Words>
  <Application>WPS 演示</Application>
  <PresentationFormat>宽屏</PresentationFormat>
  <Paragraphs>473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Times New Roman</vt:lpstr>
      <vt:lpstr>Wingdings</vt:lpstr>
      <vt:lpstr>等线</vt:lpstr>
      <vt:lpstr>汉仪中等线KW</vt:lpstr>
      <vt:lpstr>苹方-简</vt:lpstr>
      <vt:lpstr>等线 Light</vt:lpstr>
      <vt:lpstr>Office 主题​​</vt:lpstr>
      <vt:lpstr>PowerPoint 演示文稿</vt:lpstr>
      <vt:lpstr>PowerPoint 演示文稿</vt:lpstr>
      <vt:lpstr>一、项目背景</vt:lpstr>
      <vt:lpstr>一、项目背景</vt:lpstr>
      <vt:lpstr>一、项目背景</vt:lpstr>
      <vt:lpstr>一、项目背景</vt:lpstr>
      <vt:lpstr>二、研究内容</vt:lpstr>
      <vt:lpstr>二、研究内容</vt:lpstr>
      <vt:lpstr>二、研究内容</vt:lpstr>
      <vt:lpstr>三、项目价值</vt:lpstr>
      <vt:lpstr>四、项目目标</vt:lpstr>
      <vt:lpstr>四、项目目标</vt:lpstr>
      <vt:lpstr>四、项目目标</vt:lpstr>
      <vt:lpstr>五、关键资源计划</vt:lpstr>
      <vt:lpstr>六、财务计划-投入</vt:lpstr>
      <vt:lpstr>七、产出和收益</vt:lpstr>
      <vt:lpstr>八、风险及问题管理</vt:lpstr>
      <vt:lpstr>九、结 论</vt:lpstr>
      <vt:lpstr>九、结 论</vt:lpstr>
      <vt:lpstr>专业技术委员会评审意见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华侨 王</dc:creator>
  <cp:lastModifiedBy>elemeNT</cp:lastModifiedBy>
  <cp:revision>61</cp:revision>
  <dcterms:created xsi:type="dcterms:W3CDTF">2026-06-20T02:12:52Z</dcterms:created>
  <dcterms:modified xsi:type="dcterms:W3CDTF">2026-06-20T02:12:52Z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89B4BCFB83F4E016883B326A6069A954_43</vt:lpwstr>
  </property>
  <property fmtid="{D5CDD505-2E9C-101B-9397-08002B2CF9AE}" pid="3" name="KSOProductBuildVer">
    <vt:lpwstr>2052-12.1.26016.26016</vt:lpwstr>
  </property>
</Properties>
</file>