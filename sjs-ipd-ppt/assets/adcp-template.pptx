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sldIdLst>
    <p:sldId id="256" r:id="rId4"/>
    <p:sldId id="257" r:id="rId5"/>
    <p:sldId id="300" r:id="rId6"/>
    <p:sldId id="299" r:id="rId7"/>
    <p:sldId id="301" r:id="rId8"/>
    <p:sldId id="282" r:id="rId9"/>
    <p:sldId id="283" r:id="rId10"/>
    <p:sldId id="284" r:id="rId11"/>
    <p:sldId id="302" r:id="rId12"/>
    <p:sldId id="293" r:id="rId13"/>
    <p:sldId id="303" r:id="rId14"/>
    <p:sldId id="289" r:id="rId15"/>
    <p:sldId id="297" r:id="rId16"/>
    <p:sldId id="258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1B3"/>
    <a:srgbClr val="595556"/>
    <a:srgbClr val="B4D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7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7"/>
          <p:cNvSpPr>
            <a:spLocks noChangeShapeType="1"/>
          </p:cNvSpPr>
          <p:nvPr userDrawn="1"/>
        </p:nvSpPr>
        <p:spPr bwMode="auto">
          <a:xfrm>
            <a:off x="149543" y="945515"/>
            <a:ext cx="11892915" cy="635"/>
          </a:xfrm>
          <a:prstGeom prst="line">
            <a:avLst/>
          </a:prstGeom>
          <a:ln w="1270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3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070350" y="365125"/>
            <a:ext cx="4015105" cy="3962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2800" b="0">
                <a:solidFill>
                  <a:srgbClr val="0161B3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主标题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" hasCustomPrompt="1"/>
          </p:nvPr>
        </p:nvSpPr>
        <p:spPr>
          <a:xfrm>
            <a:off x="673100" y="1002665"/>
            <a:ext cx="1976755" cy="5721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rgbClr val="595556"/>
                </a:solidFill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子标题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7"/>
          <p:cNvSpPr>
            <a:spLocks noChangeShapeType="1"/>
          </p:cNvSpPr>
          <p:nvPr userDrawn="1"/>
        </p:nvSpPr>
        <p:spPr bwMode="auto">
          <a:xfrm>
            <a:off x="149543" y="945515"/>
            <a:ext cx="11892915" cy="635"/>
          </a:xfrm>
          <a:prstGeom prst="line">
            <a:avLst/>
          </a:prstGeom>
          <a:ln w="1270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3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070350" y="365125"/>
            <a:ext cx="4015105" cy="3962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2800" b="0">
                <a:solidFill>
                  <a:srgbClr val="0161B3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主标题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" hasCustomPrompt="1"/>
          </p:nvPr>
        </p:nvSpPr>
        <p:spPr>
          <a:xfrm>
            <a:off x="673100" y="1002665"/>
            <a:ext cx="1976755" cy="5721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rgbClr val="595556"/>
                </a:solidFill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子标题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>
            <p:custDataLst>
              <p:tags r:id="rId2"/>
            </p:custDataLst>
          </p:nvPr>
        </p:nvSpPr>
        <p:spPr>
          <a:xfrm>
            <a:off x="9662160" y="5805170"/>
            <a:ext cx="19024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AI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数智研发部</a:t>
            </a:r>
            <a:endParaRPr lang="zh-CN" altLang="en-US" sz="2000" dirty="0" smtClean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  2026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年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月</a:t>
            </a:r>
            <a:endParaRPr lang="zh-CN" altLang="en-US" sz="2000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76" name="矩形 10"/>
          <p:cNvSpPr/>
          <p:nvPr>
            <p:custDataLst>
              <p:tags r:id="rId3"/>
            </p:custDataLst>
          </p:nvPr>
        </p:nvSpPr>
        <p:spPr>
          <a:xfrm>
            <a:off x="720090" y="1167130"/>
            <a:ext cx="10751820" cy="27495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ctr"/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长虹美菱股份有限公司</a:t>
            </a:r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技术开发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(IPD)</a:t>
            </a: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项目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—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PDCP</a:t>
            </a: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文件</a:t>
            </a:r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zh-CN" altLang="en-US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77" name="矩形 11"/>
          <p:cNvSpPr/>
          <p:nvPr>
            <p:custDataLst>
              <p:tags r:id="rId4"/>
            </p:custDataLst>
          </p:nvPr>
        </p:nvSpPr>
        <p:spPr>
          <a:xfrm>
            <a:off x="2759075" y="3804285"/>
            <a:ext cx="6674485" cy="14370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lstStyle/>
          <a:p>
            <a:endParaRPr lang="en-US" altLang="zh-CN" sz="20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项目名称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XXXXX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技术</a:t>
            </a: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研究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项目类别：基础研究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2"/>
          <p:cNvSpPr>
            <a:spLocks noChangeArrowheads="1"/>
          </p:cNvSpPr>
          <p:nvPr/>
        </p:nvSpPr>
        <p:spPr bwMode="auto">
          <a:xfrm>
            <a:off x="5381623" y="803895"/>
            <a:ext cx="1428754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sz="3200" b="1" dirty="0">
                <a:latin typeface="微软雅黑" charset="-122"/>
                <a:ea typeface="微软雅黑" charset="-122"/>
              </a:rPr>
              <a:t>目 </a:t>
            </a:r>
            <a:r>
              <a:rPr lang="en-US" altLang="zh-CN" sz="3200" b="1" dirty="0">
                <a:latin typeface="微软雅黑" charset="-122"/>
                <a:ea typeface="微软雅黑" charset="-122"/>
              </a:rPr>
              <a:t>  </a:t>
            </a:r>
            <a:r>
              <a:rPr lang="zh-CN" altLang="en-US" sz="3200" b="1" dirty="0">
                <a:latin typeface="微软雅黑" charset="-122"/>
                <a:ea typeface="微软雅黑" charset="-122"/>
              </a:rPr>
              <a:t>录</a:t>
            </a:r>
            <a:endParaRPr lang="zh-CN" altLang="en-US" sz="32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082" name="Text Box 25"/>
          <p:cNvSpPr txBox="1"/>
          <p:nvPr/>
        </p:nvSpPr>
        <p:spPr>
          <a:xfrm>
            <a:off x="4230370" y="1664335"/>
            <a:ext cx="3731260" cy="4453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>
                <a:latin typeface="微软雅黑" charset="-122"/>
                <a:ea typeface="微软雅黑" charset="-122"/>
                <a:sym typeface="+mn-ea"/>
              </a:rPr>
              <a:t>一、项目背景回顾</a:t>
            </a:r>
            <a:r>
              <a:rPr lang="en-US" altLang="zh-CN" sz="2000" b="1" dirty="0">
                <a:latin typeface="微软雅黑" charset="-122"/>
                <a:ea typeface="微软雅黑" charset="-122"/>
                <a:sym typeface="+mn-ea"/>
              </a:rPr>
              <a:t>     </a:t>
            </a:r>
            <a:endParaRPr lang="en-US" altLang="zh-CN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二、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项目指标完成情况</a:t>
            </a:r>
            <a:endParaRPr lang="zh-CN" altLang="en-US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三、具体完成情况</a:t>
            </a:r>
            <a:endParaRPr lang="en-US" altLang="zh-CN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四、项目存在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问题</a:t>
            </a:r>
            <a:endParaRPr lang="zh-CN" altLang="en-US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五、技术委员会评审</a:t>
            </a:r>
            <a:endParaRPr lang="zh-CN" altLang="en-US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六、总结</a:t>
            </a:r>
            <a:endParaRPr lang="zh-CN" altLang="zh-CN" sz="2000" b="1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项目背景回顾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必要性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项目背景回顾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重要性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项目背景回顾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465705" cy="572135"/>
          </a:xfrm>
        </p:spPr>
        <p:txBody>
          <a:bodyPr/>
          <a:p>
            <a:r>
              <a:rPr lang="en-US" altLang="zh-CN"/>
              <a:t>PDCP</a:t>
            </a:r>
            <a:r>
              <a:t>评审</a:t>
            </a:r>
            <a:r>
              <a:t>意见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47675" y="1574800"/>
            <a:ext cx="6104255" cy="4806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建议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 sz="1600"/>
              <a:t>评估服务器对大量数据传输的支撑能力，确定实验室硬件能否承载系统。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回复：</a:t>
            </a:r>
            <a:r>
              <a:rPr lang="zh-CN" altLang="en-US" sz="1600">
                <a:solidFill>
                  <a:schemeClr val="tx1"/>
                </a:solidFill>
              </a:rPr>
              <a:t>同步程序的数据处理TPS达2000+，可满足当前数据处理需求；开发阶段选取实验室性能偏弱的数台电脑部署同步程序，均可正常运行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rgbClr val="FF0000"/>
                </a:solidFill>
              </a:rPr>
              <a:t>建议2：</a:t>
            </a:r>
            <a:r>
              <a:rPr lang="zh-CN" altLang="en-US" sz="1600">
                <a:solidFill>
                  <a:schemeClr val="tx1"/>
                </a:solidFill>
              </a:rPr>
              <a:t>数据的安全管理要加强，考虑系统联网后数据保密及过程可控问题；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rgbClr val="FF0000"/>
                </a:solidFill>
              </a:rPr>
              <a:t>回复2：</a:t>
            </a:r>
            <a:r>
              <a:rPr lang="zh-CN" altLang="en-US" sz="1600">
                <a:solidFill>
                  <a:schemeClr val="tx1"/>
                </a:solidFill>
              </a:rPr>
              <a:t>远程调参系统设置登录认证机制，远程调参需单独配置权限，参数下发全程通过物联网平台管控。</a:t>
            </a:r>
            <a:endParaRPr lang="zh-CN" altLang="en-US" sz="1600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rgbClr val="FF0000"/>
                </a:solidFill>
              </a:rPr>
              <a:t>建议3：</a:t>
            </a:r>
            <a:r>
              <a:rPr lang="zh-CN" altLang="en-US" sz="1600">
                <a:solidFill>
                  <a:schemeClr val="tx1"/>
                </a:solidFill>
              </a:rPr>
              <a:t>远程手动调参、流程化自动调参和智能调参三阶段做好功能融合。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rgbClr val="FF0000"/>
                </a:solidFill>
              </a:rPr>
              <a:t>回复3：</a:t>
            </a:r>
            <a:r>
              <a:rPr lang="zh-CN" altLang="en-US" sz="1600">
                <a:solidFill>
                  <a:schemeClr val="tx1"/>
                </a:solidFill>
              </a:rPr>
              <a:t>三类调参功能已融合至同一操作界面，且各功能独立运行、互不干扰。</a:t>
            </a:r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5630" y="1002665"/>
            <a:ext cx="4831715" cy="52768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、</a:t>
            </a:r>
            <a:r>
              <a:rPr lang="zh-CN" altLang="en-US"/>
              <a:t>项目目标完成</a:t>
            </a:r>
            <a:r>
              <a:rPr lang="zh-CN" altLang="en-US"/>
              <a:t>情况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Q</a:t>
            </a:r>
            <a:r>
              <a:t>指标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88670" y="1461135"/>
          <a:ext cx="10614025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455"/>
                <a:gridCol w="5979960"/>
                <a:gridCol w="1218203"/>
                <a:gridCol w="1218204"/>
                <a:gridCol w="1218203"/>
              </a:tblGrid>
              <a:tr h="6496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序号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指标要求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实际</a:t>
                      </a:r>
                      <a:r>
                        <a:rPr lang="zh-CN" altLang="en-US" sz="1600" b="1" dirty="0"/>
                        <a:t>达成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 dirty="0"/>
                        <a:t>偏差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 dirty="0"/>
                        <a:t>偏差</a:t>
                      </a:r>
                      <a:r>
                        <a:rPr lang="zh-CN" altLang="en-US" sz="1600" b="1" dirty="0"/>
                        <a:t>分析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</a:tr>
              <a:tr h="625475">
                <a:tc rowSpan="4"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功能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搭建双系统冰箱凝霜观测测试环境，用于凝霜图像、化霜水重样本采集。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已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完成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无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偏差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</a:tr>
              <a:tr h="626110">
                <a:tc vMerge="1"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开发凝霜程度可视化界面，支持蒸发器凝霜状态直观查看，内置人工标定功能，可标注凝霜基准等级。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已完成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无偏差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05790">
                <a:tc vMerge="1">
                  <a:tcPr marL="91430" marR="91430" marT="45690" marB="4569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开发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IoT 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特征关联及凝霜等级规则算法，依据既定标定方案自动生成标准化凝霜标签数据集。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已完成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无偏差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69925">
                <a:tc vMerge="1">
                  <a:tcPr marL="91430" marR="91430" marT="45690" marB="456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实现数据驱动凝霜识别算法，通过输入 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IoT 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数据推理凝霜等级，基于标准标签测试集完成精度核验。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已完成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无偏差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26110">
                <a:tc rowSpan="2"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性能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基于本项目自研标定方案生成的已标记标准凝霜标签数据集，凝霜程度识别算法准确率≥70%。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已完成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无偏差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</a:tr>
              <a:tr h="589915">
                <a:tc vMerge="1">
                  <a:tcPr marL="91430" marR="91430" marT="45690" marB="4569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凝霜程度虚拟传感器推理响应耗时为秒级。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已完成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无偏差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057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专利指标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产出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1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篇专利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已完成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lt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>
                          <a:latin typeface="微软雅黑" charset="-122"/>
                          <a:ea typeface="微软雅黑" charset="-122"/>
                          <a:sym typeface="+mn-ea"/>
                        </a:rPr>
                        <a:t>无偏差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lt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lt"/>
                      </a:endParaRPr>
                    </a:p>
                  </a:txBody>
                  <a:tcPr marL="91430" marR="91430" marT="45690" marB="4569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项目目标完成情况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C</a:t>
            </a:r>
            <a:r>
              <a:t>指标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64235" y="1574800"/>
          <a:ext cx="10392410" cy="3910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773"/>
                <a:gridCol w="2206693"/>
                <a:gridCol w="2213981"/>
                <a:gridCol w="2213982"/>
                <a:gridCol w="2213981"/>
              </a:tblGrid>
              <a:tr h="65722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费用科目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预算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备注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实际</a:t>
                      </a: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偏差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</a:tr>
              <a:tr h="51943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实验室采集软件开发费用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免费提供开发并包含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套部署试用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66929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中转服务器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美菱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美菱内部试用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无需付费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68834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大数据平台费用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已预算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68834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人力资源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271600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970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/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人天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*280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人天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= 271600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68834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专利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4000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4000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/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件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*1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件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= 4000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372110" y="5718810"/>
            <a:ext cx="5433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zh-CN" altLang="en-US" sz="1600" dirty="0">
                <a:solidFill>
                  <a:srgbClr val="FF0000"/>
                </a:solidFill>
                <a:latin typeface="微软雅黑" charset="-122"/>
                <a:ea typeface="微软雅黑" charset="-122"/>
                <a:cs typeface="微软雅黑" charset="-122"/>
              </a:rPr>
              <a:t>满足</a:t>
            </a:r>
            <a:r>
              <a:rPr lang="en-US" altLang="zh-CN" sz="1600" dirty="0">
                <a:solidFill>
                  <a:srgbClr val="FF0000"/>
                </a:solidFill>
                <a:latin typeface="微软雅黑" charset="-122"/>
                <a:ea typeface="微软雅黑" charset="-122"/>
                <a:cs typeface="微软雅黑" charset="-122"/>
              </a:rPr>
              <a:t>C</a:t>
            </a:r>
            <a:r>
              <a:rPr lang="zh-CN" altLang="en-US" sz="1600" dirty="0">
                <a:solidFill>
                  <a:srgbClr val="FF0000"/>
                </a:solidFill>
                <a:latin typeface="微软雅黑" charset="-122"/>
                <a:ea typeface="微软雅黑" charset="-122"/>
                <a:cs typeface="微软雅黑" charset="-122"/>
              </a:rPr>
              <a:t>指标。</a:t>
            </a:r>
            <a:endParaRPr lang="zh-CN" altLang="en-US" sz="1600" dirty="0">
              <a:solidFill>
                <a:srgbClr val="FF000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项目目标完成情况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D</a:t>
            </a:r>
            <a:r>
              <a:t>指标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99185" y="1694815"/>
          <a:ext cx="9838690" cy="4217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896"/>
                <a:gridCol w="2019046"/>
                <a:gridCol w="2174250"/>
                <a:gridCol w="2174249"/>
                <a:gridCol w="2174249"/>
              </a:tblGrid>
              <a:tr h="672465">
                <a:tc>
                  <a:txBody>
                    <a:bodyPr/>
                    <a:p>
                      <a:pPr algn="ctr"/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关键节点（日期）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工作内容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实际完成</a:t>
                      </a:r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节点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偏差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偏差</a:t>
                      </a:r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分析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</a:tr>
              <a:tr h="777240">
                <a:tc>
                  <a:txBody>
                    <a:bodyPr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2026.5.31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项目立项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无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偏差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91460" marR="91460" marT="45726" marB="45726" anchor="ctr" anchorCtr="0"/>
                </a:tc>
              </a:tr>
              <a:tr h="6750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2026.8.31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整体方案确认及评审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</a:tr>
              <a:tr h="7480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2026.10.31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完成凝霜程度识别算法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</a:tr>
              <a:tr h="6724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2026.11.30</a:t>
                      </a:r>
                      <a:endParaRPr lang="en-US" altLang="zh-CN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完成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系统测试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 fontAlgn="ctr"/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</a:tr>
              <a:tr h="6724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2026.12.31</a:t>
                      </a:r>
                      <a:endParaRPr lang="en-US" altLang="zh-CN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ADCP</a:t>
                      </a:r>
                      <a:endParaRPr lang="en-US" altLang="zh-CN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、</a:t>
            </a:r>
            <a:r>
              <a:rPr lang="zh-CN" altLang="en-US"/>
              <a:t>具体完成</a:t>
            </a:r>
            <a:r>
              <a:rPr lang="zh-CN" altLang="en-US"/>
              <a:t>情况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技术</a:t>
            </a:r>
            <a:r>
              <a:rPr lang="zh-CN" altLang="en-US"/>
              <a:t>实现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、</a:t>
            </a:r>
            <a:r>
              <a:rPr lang="zh-CN" altLang="en-US"/>
              <a:t>具体完成</a:t>
            </a:r>
            <a:r>
              <a:rPr lang="zh-CN" altLang="en-US"/>
              <a:t>情况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效果</a:t>
            </a:r>
            <a:r>
              <a:rPr lang="zh-CN" altLang="en-US"/>
              <a:t>演示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</a:t>
            </a:r>
            <a:r>
              <a:rPr lang="en-US" altLang="zh-CN"/>
              <a:t>、</a:t>
            </a:r>
            <a:r>
              <a:rPr lang="zh-CN" altLang="en-US"/>
              <a:t>项目存在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3907790" cy="572135"/>
          </a:xfrm>
        </p:spPr>
        <p:txBody>
          <a:bodyPr/>
          <a:p>
            <a:r>
              <a:rPr lang="zh-CN" altLang="en-US"/>
              <a:t>项目问题及后续工作</a:t>
            </a:r>
            <a:r>
              <a:rPr lang="zh-CN" altLang="en-US"/>
              <a:t>安排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五、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技术委员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评审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291715" cy="572135"/>
          </a:xfrm>
        </p:spPr>
        <p:txBody>
          <a:bodyPr/>
          <a:p>
            <a:r>
              <a:rPr lang="zh-CN" altLang="en-US"/>
              <a:t>评审</a:t>
            </a:r>
            <a:r>
              <a:rPr lang="zh-CN" altLang="en-US"/>
              <a:t>意见</a:t>
            </a:r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033145" y="2018665"/>
            <a:ext cx="8489315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宋体" pitchFamily="2" charset="-122"/>
                <a:cs typeface="宋体" pitchFamily="2" charset="-122"/>
              </a:rPr>
              <a:t>项目</a:t>
            </a:r>
            <a:r>
              <a:rPr lang="zh-CN" altLang="en-US" sz="1600" dirty="0" smtClean="0">
                <a:latin typeface="宋体" pitchFamily="2" charset="-122"/>
                <a:cs typeface="宋体" pitchFamily="2" charset="-122"/>
              </a:rPr>
              <a:t>组场景</a:t>
            </a:r>
            <a:endParaRPr lang="zh-CN" altLang="en-US" sz="1600" dirty="0">
              <a:latin typeface="宋体" pitchFamily="2" charset="-122"/>
              <a:cs typeface="宋体" pitchFamily="2" charset="-122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latin typeface="宋体" pitchFamily="2" charset="-122"/>
                <a:cs typeface="宋体" pitchFamily="2" charset="-122"/>
              </a:rPr>
              <a:t>ADCP</a:t>
            </a:r>
            <a:r>
              <a:rPr lang="zh-CN" altLang="en-US" sz="1600" dirty="0" smtClean="0">
                <a:latin typeface="宋体" pitchFamily="2" charset="-122"/>
                <a:cs typeface="宋体" pitchFamily="2" charset="-122"/>
              </a:rPr>
              <a:t>阶段核算</a:t>
            </a:r>
            <a:endParaRPr lang="zh-CN" altLang="en-US" sz="1600" dirty="0">
              <a:latin typeface="宋体" pitchFamily="2" charset="-122"/>
              <a:cs typeface="宋体" pitchFamily="2" charset="-122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宋体" pitchFamily="2" charset="-122"/>
                <a:cs typeface="宋体" pitchFamily="2" charset="-122"/>
              </a:rPr>
              <a:t>项目组</a:t>
            </a:r>
            <a:r>
              <a:rPr lang="zh-CN" altLang="en-US" sz="1600" dirty="0" smtClean="0">
                <a:latin typeface="宋体" pitchFamily="2" charset="-122"/>
                <a:cs typeface="宋体" pitchFamily="2" charset="-122"/>
              </a:rPr>
              <a:t>考虑</a:t>
            </a:r>
            <a:r>
              <a:rPr lang="zh-CN" altLang="en-US" sz="1600" dirty="0" smtClean="0">
                <a:latin typeface="宋体" pitchFamily="2" charset="-122"/>
                <a:cs typeface="宋体" pitchFamily="2" charset="-122"/>
                <a:sym typeface="+mn-ea"/>
              </a:rPr>
              <a:t>讨论</a:t>
            </a:r>
            <a:endParaRPr lang="zh-CN" altLang="en-US" sz="1600" dirty="0">
              <a:latin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八</a:t>
            </a:r>
            <a:r>
              <a:rPr lang="en-US" altLang="zh-CN"/>
              <a:t>、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467360" y="987425"/>
            <a:ext cx="10427970" cy="4993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marL="0" marR="0" indent="0" algn="l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charset="-122"/>
                <a:ea typeface="微软雅黑" charset="-122"/>
              </a:rPr>
              <a:t>       本项目</a:t>
            </a:r>
            <a:r>
              <a:rPr lang="zh-CN" altLang="en-US" sz="1800" dirty="0" smtClean="0">
                <a:latin typeface="微软雅黑" charset="-122"/>
                <a:ea typeface="微软雅黑" charset="-122"/>
              </a:rPr>
              <a:t>已</a:t>
            </a:r>
            <a:endParaRPr lang="en-US" altLang="zh-CN" sz="1800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endParaRPr lang="zh-CN" altLang="en-US" sz="1800" b="1" dirty="0">
              <a:latin typeface="微软雅黑" charset="-122"/>
              <a:ea typeface="微软雅黑" charset="-122"/>
            </a:endParaRPr>
          </a:p>
          <a:p>
            <a:pPr indent="44450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1800" b="1" dirty="0" smtClean="0">
                <a:latin typeface="微软雅黑" charset="-122"/>
                <a:ea typeface="微软雅黑" charset="-122"/>
                <a:sym typeface="+mn-ea"/>
              </a:rPr>
              <a:t>恳请</a:t>
            </a:r>
            <a:r>
              <a:rPr lang="zh-CN" altLang="en-US" sz="1800" b="1" dirty="0">
                <a:latin typeface="微软雅黑" charset="-122"/>
                <a:ea typeface="微软雅黑" charset="-122"/>
                <a:sym typeface="+mn-ea"/>
              </a:rPr>
              <a:t>领导批准此预研项目结项进入转移阶段。</a:t>
            </a:r>
            <a:endParaRPr lang="zh-CN" altLang="en-US" sz="1800" b="1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ABLE_ENDDRAG_ORIGIN_RECT" val="835*382"/>
  <p:tag name="TABLE_ENDDRAG_RECT" val="53*114*835*382"/>
</p:tagLst>
</file>

<file path=ppt/tags/tag5.xml><?xml version="1.0" encoding="utf-8"?>
<p:tagLst xmlns:p="http://schemas.openxmlformats.org/presentationml/2006/main">
  <p:tag name="KSO_WM_UNIT_TABLE_BEAUTIFY" val="smartTable{ab1a3096-91aa-4b99-81bf-8dfd1d521a9a}"/>
  <p:tag name="TABLE_ENDDRAG_ORIGIN_RECT" val="818*307"/>
  <p:tag name="TABLE_ENDDRAG_RECT" val="68*124*818*307"/>
</p:tagLst>
</file>

<file path=ppt/tags/tag6.xml><?xml version="1.0" encoding="utf-8"?>
<p:tagLst xmlns:p="http://schemas.openxmlformats.org/presentationml/2006/main">
  <p:tag name="KSO_WM_UNIT_TABLE_BEAUTIFY" val="smartTable{83eb02a2-79fe-4e02-9bb4-edfa3f05dbdf}"/>
  <p:tag name="TABLE_ENDDRAG_ORIGIN_RECT" val="774*332"/>
  <p:tag name="TABLE_ENDDRAG_RECT" val="86*133*774*332"/>
  <p:tag name="KSO_WM_BEAUTIFY_FLAG" val=""/>
</p:tagLst>
</file>

<file path=ppt/tags/tag7.xml><?xml version="1.0" encoding="utf-8"?>
<p:tagLst xmlns:p="http://schemas.openxmlformats.org/presentationml/2006/main">
  <p:tag name="resource_record_key" val="{&quot;29&quot;:[50053044,50053052,50053017,50053024,50053164,50053072,50053368,50053092,50053364,50000061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</Words>
  <Application>WPS 表格</Application>
  <PresentationFormat>宽屏</PresentationFormat>
  <Paragraphs>224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汉仪旗黑</vt:lpstr>
      <vt:lpstr>微软雅黑</vt:lpstr>
      <vt:lpstr>Times New Roman</vt:lpstr>
      <vt:lpstr>Calibri</vt:lpstr>
      <vt:lpstr>Helvetica Neue</vt:lpstr>
      <vt:lpstr>汉仪书宋二KW</vt:lpstr>
      <vt:lpstr>等线</vt:lpstr>
      <vt:lpstr>汉仪中等线KW</vt:lpstr>
      <vt:lpstr>宋体</vt:lpstr>
      <vt:lpstr>Arial Unicode MS</vt:lpstr>
      <vt:lpstr>Wingdings</vt:lpstr>
      <vt:lpstr>Office 主题​​</vt:lpstr>
      <vt:lpstr>1_Office 主题​​</vt:lpstr>
      <vt:lpstr>PowerPoint 演示文稿</vt:lpstr>
      <vt:lpstr>PowerPoint 演示文稿</vt:lpstr>
      <vt:lpstr>一、项目背景回顾</vt:lpstr>
      <vt:lpstr>PowerPoint 演示文稿</vt:lpstr>
      <vt:lpstr>一、项目背景回顾</vt:lpstr>
      <vt:lpstr>二、项目目标</vt:lpstr>
      <vt:lpstr>二、项目目标</vt:lpstr>
      <vt:lpstr>二、项目目标</vt:lpstr>
      <vt:lpstr>三、具体完成情况</vt:lpstr>
      <vt:lpstr>三、技术方案</vt:lpstr>
      <vt:lpstr>PowerPoint 演示文稿</vt:lpstr>
      <vt:lpstr>五、技术委员评审</vt:lpstr>
      <vt:lpstr>八、总结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华侨 王</dc:creator>
  <cp:lastModifiedBy>elemeNT</cp:lastModifiedBy>
  <cp:revision>68</cp:revision>
  <dcterms:created xsi:type="dcterms:W3CDTF">2026-06-17T13:16:28Z</dcterms:created>
  <dcterms:modified xsi:type="dcterms:W3CDTF">2026-06-17T13:16:28Z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89B4BCFB83F4E016883B326A6069A954_43</vt:lpwstr>
  </property>
  <property fmtid="{D5CDD505-2E9C-101B-9397-08002B2CF9AE}" pid="3" name="KSOProductBuildVer">
    <vt:lpwstr>2052-12.1.26016.26016</vt:lpwstr>
  </property>
</Properties>
</file>