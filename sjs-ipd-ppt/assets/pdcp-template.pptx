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sldIdLst>
    <p:sldId id="256" r:id="rId4"/>
    <p:sldId id="257" r:id="rId5"/>
    <p:sldId id="273" r:id="rId6"/>
    <p:sldId id="282" r:id="rId7"/>
    <p:sldId id="283" r:id="rId8"/>
    <p:sldId id="292" r:id="rId9"/>
    <p:sldId id="284" r:id="rId10"/>
    <p:sldId id="293" r:id="rId11"/>
    <p:sldId id="294" r:id="rId12"/>
    <p:sldId id="295" r:id="rId13"/>
    <p:sldId id="288" r:id="rId14"/>
    <p:sldId id="289" r:id="rId15"/>
    <p:sldId id="290" r:id="rId16"/>
    <p:sldId id="296" r:id="rId17"/>
    <p:sldId id="297" r:id="rId18"/>
    <p:sldId id="258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1B3"/>
    <a:srgbClr val="595556"/>
    <a:srgbClr val="B4D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9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7"/>
          <p:cNvSpPr>
            <a:spLocks noChangeShapeType="1"/>
          </p:cNvSpPr>
          <p:nvPr userDrawn="1"/>
        </p:nvSpPr>
        <p:spPr bwMode="auto">
          <a:xfrm>
            <a:off x="149543" y="945515"/>
            <a:ext cx="11892915" cy="635"/>
          </a:xfrm>
          <a:prstGeom prst="line">
            <a:avLst/>
          </a:prstGeom>
          <a:ln w="1270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070350" y="365125"/>
            <a:ext cx="4015105" cy="3962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2800" b="0">
                <a:solidFill>
                  <a:srgbClr val="0161B3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主标题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" hasCustomPrompt="1"/>
          </p:nvPr>
        </p:nvSpPr>
        <p:spPr>
          <a:xfrm>
            <a:off x="673100" y="1002665"/>
            <a:ext cx="1976755" cy="5721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rgbClr val="595556"/>
                </a:solidFill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子标题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7"/>
          <p:cNvSpPr>
            <a:spLocks noChangeShapeType="1"/>
          </p:cNvSpPr>
          <p:nvPr userDrawn="1"/>
        </p:nvSpPr>
        <p:spPr bwMode="auto">
          <a:xfrm>
            <a:off x="149543" y="945515"/>
            <a:ext cx="11892915" cy="635"/>
          </a:xfrm>
          <a:prstGeom prst="line">
            <a:avLst/>
          </a:prstGeom>
          <a:ln w="1270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070350" y="365125"/>
            <a:ext cx="4015105" cy="3962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2800" b="0">
                <a:solidFill>
                  <a:srgbClr val="0161B3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主标题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" hasCustomPrompt="1"/>
          </p:nvPr>
        </p:nvSpPr>
        <p:spPr>
          <a:xfrm>
            <a:off x="673100" y="1002665"/>
            <a:ext cx="1976755" cy="5721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rgbClr val="595556"/>
                </a:solidFill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子标题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2"/>
            </p:custDataLst>
          </p:nvPr>
        </p:nvSpPr>
        <p:spPr>
          <a:xfrm>
            <a:off x="9662160" y="5805170"/>
            <a:ext cx="19024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AI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数智研发部</a:t>
            </a:r>
            <a:endParaRPr lang="zh-CN" altLang="en-US" sz="2000" dirty="0" smtClean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  2026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年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月</a:t>
            </a:r>
            <a:endParaRPr lang="zh-CN" altLang="en-US" sz="2000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6" name="矩形 10"/>
          <p:cNvSpPr/>
          <p:nvPr>
            <p:custDataLst>
              <p:tags r:id="rId3"/>
            </p:custDataLst>
          </p:nvPr>
        </p:nvSpPr>
        <p:spPr>
          <a:xfrm>
            <a:off x="720090" y="1167130"/>
            <a:ext cx="10751820" cy="27495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/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长虹美菱股份有限公司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技术开发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(IPD)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项目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—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PDCP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文件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zh-CN" altLang="en-US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7" name="矩形 11"/>
          <p:cNvSpPr/>
          <p:nvPr>
            <p:custDataLst>
              <p:tags r:id="rId4"/>
            </p:custDataLst>
          </p:nvPr>
        </p:nvSpPr>
        <p:spPr>
          <a:xfrm>
            <a:off x="2759075" y="3804285"/>
            <a:ext cx="6674485" cy="14370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lstStyle/>
          <a:p>
            <a:endParaRPr lang="en-US" altLang="zh-CN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项目名称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XXXXX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技术</a:t>
            </a: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项目类别：基础研究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2"/>
          <p:cNvSpPr>
            <a:spLocks noChangeArrowheads="1"/>
          </p:cNvSpPr>
          <p:nvPr/>
        </p:nvSpPr>
        <p:spPr bwMode="auto">
          <a:xfrm>
            <a:off x="5381623" y="803895"/>
            <a:ext cx="1428754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sz="3200" b="1" dirty="0">
                <a:latin typeface="微软雅黑" charset="-122"/>
                <a:ea typeface="微软雅黑" charset="-122"/>
              </a:rPr>
              <a:t>目 </a:t>
            </a:r>
            <a:r>
              <a:rPr lang="en-US" altLang="zh-CN" sz="3200" b="1" dirty="0">
                <a:latin typeface="微软雅黑" charset="-122"/>
                <a:ea typeface="微软雅黑" charset="-122"/>
              </a:rPr>
              <a:t>  </a:t>
            </a:r>
            <a:r>
              <a:rPr lang="zh-CN" altLang="en-US" sz="3200" b="1" dirty="0">
                <a:latin typeface="微软雅黑" charset="-122"/>
                <a:ea typeface="微软雅黑" charset="-122"/>
              </a:rPr>
              <a:t>录</a:t>
            </a:r>
            <a:endParaRPr lang="zh-CN" altLang="en-US" sz="32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082" name="Text Box 25"/>
          <p:cNvSpPr txBox="1"/>
          <p:nvPr/>
        </p:nvSpPr>
        <p:spPr>
          <a:xfrm>
            <a:off x="4230370" y="1664335"/>
            <a:ext cx="3731260" cy="4453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>
                <a:latin typeface="微软雅黑" charset="-122"/>
                <a:ea typeface="微软雅黑" charset="-122"/>
                <a:sym typeface="+mn-ea"/>
              </a:rPr>
              <a:t>一、项目背景</a:t>
            </a:r>
            <a:r>
              <a:rPr lang="en-US" altLang="zh-CN" sz="2000" b="1" dirty="0">
                <a:latin typeface="微软雅黑" charset="-122"/>
                <a:ea typeface="微软雅黑" charset="-122"/>
                <a:sym typeface="+mn-ea"/>
              </a:rPr>
              <a:t>     </a:t>
            </a:r>
            <a:endParaRPr lang="en-US" altLang="zh-CN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二、指标完成情况</a:t>
            </a:r>
            <a:endParaRPr lang="zh-CN" altLang="en-US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三、技术方案</a:t>
            </a:r>
            <a:endParaRPr lang="en-US" altLang="zh-CN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四、问题及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风险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五、技术评委评审</a:t>
            </a:r>
            <a:r>
              <a:rPr lang="en-US" altLang="zh-CN" sz="2000" b="1" dirty="0" smtClean="0">
                <a:latin typeface="微软雅黑" charset="-122"/>
                <a:ea typeface="微软雅黑" charset="-122"/>
                <a:sym typeface="+mn-ea"/>
              </a:rPr>
              <a:t> </a:t>
            </a:r>
            <a:endParaRPr lang="zh-CN" altLang="en-US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六、下一步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工作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七、专利布局</a:t>
            </a:r>
            <a:r>
              <a:rPr lang="en-US" altLang="zh-CN" sz="2000" b="1" dirty="0" smtClean="0">
                <a:latin typeface="微软雅黑" charset="-122"/>
                <a:ea typeface="微软雅黑" charset="-122"/>
                <a:sym typeface="+mn-ea"/>
              </a:rPr>
              <a:t> </a:t>
            </a:r>
            <a:endParaRPr lang="en-US" altLang="zh-CN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八、总结</a:t>
            </a:r>
            <a:endParaRPr lang="zh-CN" altLang="zh-CN" sz="2000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一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项目背景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、</a:t>
            </a:r>
            <a:r>
              <a:rPr lang="zh-CN" altLang="en-US"/>
              <a:t>项目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Q</a:t>
            </a:r>
            <a:r>
              <a:t>指标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8670" y="1461135"/>
          <a:ext cx="10614025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270"/>
                <a:gridCol w="7761605"/>
                <a:gridCol w="1581150"/>
              </a:tblGrid>
              <a:tr h="6496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序号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指标要求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交付物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</a:tr>
              <a:tr h="625475">
                <a:tc rowSpan="4"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功能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搭建双系统冰箱凝霜观测测试环境，用于凝霜图像、化霜水重样本采集。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硬件代码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26110">
                <a:tc vMerge="1"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开发凝霜程度可视化界面，支持蒸发器凝霜状态直观查看，内置人工标定功能，可标注凝霜基准等级。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05790">
                <a:tc vMerge="1">
                  <a:tcPr marL="91430" marR="91430" marT="45690" marB="4569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开发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IoT 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特征关联及凝霜等级规则算法，依据既定标定方案自动生成标准化凝霜标签数据集。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69925">
                <a:tc vMerge="1">
                  <a:tcPr marL="91430" marR="91430" marT="45690" marB="456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实现数据驱动凝霜识别算法，通过输入 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IoT 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数据推理凝霜等级，基于标准标签测试集完成精度核验。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26110">
                <a:tc rowSpan="2"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性能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基于本项目自研标定方案生成的已标记标准凝霜标签数据集，凝霜程度识别算法准确率≥70%。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</a:tr>
              <a:tr h="589915">
                <a:tc vMerge="1">
                  <a:tcPr marL="91430" marR="91430" marT="45690" marB="4569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凝霜程度虚拟传感器推理响应耗时为秒级。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057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专利指标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产出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1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篇专利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lt"/>
                        </a:rPr>
                        <a:t>申报流程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lt"/>
                      </a:endParaRPr>
                    </a:p>
                  </a:txBody>
                  <a:tcPr marL="91430" marR="91430" marT="45690" marB="4569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C</a:t>
            </a:r>
            <a:r>
              <a:t>指标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64235" y="1574800"/>
          <a:ext cx="10739755" cy="46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030"/>
                <a:gridCol w="3973195"/>
                <a:gridCol w="3986530"/>
              </a:tblGrid>
              <a:tr h="78676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费用科目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预算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备注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</a:tr>
              <a:tr h="62230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实验室采集软件开发费用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免费提供开发并包含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套部署试用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00735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中转服务器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美菱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美菱内部试用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无需付费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2423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大数据平台费用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已预算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2423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人力资源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271600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970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/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人天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*280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人天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= 271600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2423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专利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4000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4000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/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件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*1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件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= 4000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费用</a:t>
            </a:r>
            <a:r>
              <a:rPr lang="zh-CN" altLang="en-US"/>
              <a:t>管理</a:t>
            </a:r>
            <a:endParaRPr lang="zh-CN" altLang="en-US"/>
          </a:p>
        </p:txBody>
      </p:sp>
      <p:graphicFrame>
        <p:nvGraphicFramePr>
          <p:cNvPr id="37963" name="Group 7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5040" y="1731645"/>
          <a:ext cx="10087610" cy="3394710"/>
        </p:xfrm>
        <a:graphic>
          <a:graphicData uri="http://schemas.openxmlformats.org/drawingml/2006/table">
            <a:tbl>
              <a:tblPr/>
              <a:tblGrid>
                <a:gridCol w="2110105"/>
                <a:gridCol w="3326765"/>
                <a:gridCol w="1247775"/>
                <a:gridCol w="1231265"/>
                <a:gridCol w="1254760"/>
                <a:gridCol w="916940"/>
              </a:tblGrid>
              <a:tr h="6680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费用项目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MISS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业务活动类型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预算金额（万）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概念计划阶段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开发验证阶段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转移阶段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实验室采集软件开发费用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fontAlgn="ctr" hangingPunct="1"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中转服务器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美菱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77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大数据平台费用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7985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人力资源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271600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97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专利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4000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合计（万）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55040" y="5362575"/>
            <a:ext cx="81057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备注：虹美人员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成本970元/人*天</a:t>
            </a:r>
            <a:endParaRPr lang="zh-CN" altLang="en-US" sz="1600" dirty="0">
              <a:solidFill>
                <a:srgbClr val="FF0000"/>
              </a:solidFill>
              <a:latin typeface="Times New Roman" panose="02020503050405090304" charset="0"/>
              <a:ea typeface="微软雅黑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专利成本：每件4000元。</a:t>
            </a:r>
            <a:r>
              <a:rPr lang="en-US" altLang="zh-CN" sz="1600" dirty="0"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    </a:t>
            </a:r>
            <a:r>
              <a:rPr lang="zh-CN" altLang="en-US" sz="1600" dirty="0"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1600" dirty="0" smtClean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  </a:t>
            </a:r>
            <a:endParaRPr lang="zh-CN" altLang="en-US" sz="1600" dirty="0" smtClean="0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D</a:t>
            </a:r>
            <a:r>
              <a:t>指标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99185" y="1694815"/>
          <a:ext cx="9838690" cy="4487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3618230"/>
                <a:gridCol w="3896360"/>
              </a:tblGrid>
              <a:tr h="715645"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关键节点（日期）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工作内容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交付物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826770">
                <a:tc>
                  <a:txBody>
                    <a:bodyPr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2026.5.31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项目立项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Charter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材料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718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2026.8.31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整体方案确认及评审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PDCP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材料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795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2026.10.31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完成凝霜程度识别算法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凝霜程度识别算法代码，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归档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</a:tr>
              <a:tr h="715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2026.11.30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完成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系统测试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测试报告，归档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</a:tr>
              <a:tr h="715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2026.12.31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ADCP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ADCP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结项材料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、</a:t>
            </a:r>
            <a:r>
              <a:rPr lang="zh-CN" altLang="en-US"/>
              <a:t>技术</a:t>
            </a:r>
            <a:r>
              <a:rPr lang="zh-CN" altLang="en-US"/>
              <a:t>方案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技术</a:t>
            </a:r>
            <a:r>
              <a:rPr lang="zh-CN" altLang="en-US"/>
              <a:t>框架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、</a:t>
            </a:r>
            <a:r>
              <a:rPr lang="zh-CN" altLang="en-US"/>
              <a:t>技术</a:t>
            </a:r>
            <a:r>
              <a:rPr lang="zh-CN" altLang="en-US"/>
              <a:t>方案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942590" cy="572135"/>
          </a:xfrm>
        </p:spPr>
        <p:txBody>
          <a:bodyPr/>
          <a:p>
            <a:r>
              <a:rPr lang="zh-CN" altLang="en-US"/>
              <a:t>技术实现</a:t>
            </a:r>
            <a:r>
              <a:rPr lang="zh-CN" altLang="en-US"/>
              <a:t>流程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、</a:t>
            </a:r>
            <a:r>
              <a:rPr lang="zh-CN" altLang="en-US"/>
              <a:t>技术</a:t>
            </a:r>
            <a:r>
              <a:rPr lang="zh-CN" altLang="en-US"/>
              <a:t>方案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942590" cy="572135"/>
          </a:xfrm>
        </p:spPr>
        <p:txBody>
          <a:bodyPr/>
          <a:p>
            <a:r>
              <a:rPr lang="zh-CN" altLang="en-US"/>
              <a:t>技术预计</a:t>
            </a:r>
            <a:r>
              <a:rPr lang="zh-CN" altLang="en-US"/>
              <a:t>效果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四</a:t>
            </a:r>
            <a:r>
              <a:rPr lang="en-US" altLang="zh-CN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、</a:t>
            </a:r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问题与风险</a:t>
            </a:r>
            <a:endParaRPr lang="zh-CN" altLang="en-US"/>
          </a:p>
        </p:txBody>
      </p:sp>
      <p:graphicFrame>
        <p:nvGraphicFramePr>
          <p:cNvPr id="6" name="Group 3"/>
          <p:cNvGraphicFramePr/>
          <p:nvPr>
            <p:custDataLst>
              <p:tags r:id="rId1"/>
            </p:custDataLst>
          </p:nvPr>
        </p:nvGraphicFramePr>
        <p:xfrm>
          <a:off x="883285" y="1440180"/>
          <a:ext cx="9943465" cy="3954780"/>
        </p:xfrm>
        <a:graphic>
          <a:graphicData uri="http://schemas.openxmlformats.org/drawingml/2006/table">
            <a:tbl>
              <a:tblPr/>
              <a:tblGrid>
                <a:gridCol w="696595"/>
                <a:gridCol w="3033395"/>
                <a:gridCol w="903605"/>
                <a:gridCol w="924560"/>
                <a:gridCol w="928370"/>
                <a:gridCol w="2572385"/>
                <a:gridCol w="884555"/>
              </a:tblGrid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类别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风险名称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概率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影响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优先级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应对措施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责任人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20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性能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高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大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高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项目组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4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成本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200" dirty="0" smtClean="0">
                          <a:ln>
                            <a:noFill/>
                          </a:ln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中</a:t>
                      </a:r>
                      <a:endParaRPr lang="zh-CN" altLang="en-US" sz="1200" dirty="0" smtClean="0">
                        <a:ln>
                          <a:noFill/>
                        </a:ln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200" dirty="0" smtClean="0">
                          <a:ln>
                            <a:noFill/>
                          </a:ln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大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高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项目组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616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性能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200" dirty="0" smtClean="0">
                          <a:ln>
                            <a:noFill/>
                          </a:ln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中</a:t>
                      </a:r>
                      <a:endParaRPr lang="zh-CN" altLang="en-US" sz="1200" dirty="0" smtClean="0">
                        <a:ln>
                          <a:noFill/>
                        </a:ln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小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中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五、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技术委员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评审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291715" cy="572135"/>
          </a:xfrm>
        </p:spPr>
        <p:txBody>
          <a:bodyPr/>
          <a:p>
            <a:r>
              <a:rPr lang="zh-CN" altLang="en-US"/>
              <a:t>评审</a:t>
            </a:r>
            <a:r>
              <a:rPr lang="zh-CN" altLang="en-US"/>
              <a:t>意见</a:t>
            </a:r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033145" y="2018665"/>
            <a:ext cx="8489315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宋体" pitchFamily="2" charset="-122"/>
                <a:cs typeface="宋体" pitchFamily="2" charset="-122"/>
              </a:rPr>
              <a:t>项目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</a:rPr>
              <a:t>组场景</a:t>
            </a:r>
            <a:endParaRPr lang="zh-CN" altLang="en-US" sz="1600" dirty="0">
              <a:latin typeface="宋体" pitchFamily="2" charset="-122"/>
              <a:cs typeface="宋体" pitchFamily="2" charset="-122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宋体" pitchFamily="2" charset="-122"/>
                <a:cs typeface="宋体" pitchFamily="2" charset="-122"/>
              </a:rPr>
              <a:t>ADCP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</a:rPr>
              <a:t>阶段核算</a:t>
            </a:r>
            <a:endParaRPr lang="zh-CN" altLang="en-US" sz="1600" dirty="0">
              <a:latin typeface="宋体" pitchFamily="2" charset="-122"/>
              <a:cs typeface="宋体" pitchFamily="2" charset="-122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宋体" pitchFamily="2" charset="-122"/>
                <a:cs typeface="宋体" pitchFamily="2" charset="-122"/>
              </a:rPr>
              <a:t>项目组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</a:rPr>
              <a:t>考虑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  <a:sym typeface="+mn-ea"/>
              </a:rPr>
              <a:t>讨论</a:t>
            </a:r>
            <a:endParaRPr lang="zh-CN" altLang="en-US" sz="1600" dirty="0">
              <a:latin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六、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下一步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工作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七</a:t>
            </a:r>
            <a:r>
              <a:rPr lang="en-US" altLang="zh-CN"/>
              <a:t>、</a:t>
            </a:r>
            <a:r>
              <a:rPr lang="zh-CN" altLang="en-US"/>
              <a:t>专利</a:t>
            </a:r>
            <a:r>
              <a:rPr lang="zh-CN" altLang="en-US"/>
              <a:t>布局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八</a:t>
            </a:r>
            <a:r>
              <a:rPr lang="en-US" altLang="zh-CN"/>
              <a:t>、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467360" y="987425"/>
            <a:ext cx="10427970" cy="4993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marL="0" marR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charset="-122"/>
                <a:ea typeface="微软雅黑" charset="-122"/>
              </a:rPr>
              <a:t>       本项目</a:t>
            </a:r>
            <a:r>
              <a:rPr lang="zh-CN" altLang="en-US" sz="1800" dirty="0" smtClean="0">
                <a:latin typeface="微软雅黑" charset="-122"/>
                <a:ea typeface="微软雅黑" charset="-122"/>
              </a:rPr>
              <a:t>已</a:t>
            </a:r>
            <a:endParaRPr lang="en-US" altLang="zh-CN" sz="1800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1800" b="1" dirty="0">
                <a:latin typeface="微软雅黑" charset="-122"/>
                <a:ea typeface="微软雅黑" charset="-122"/>
              </a:rPr>
              <a:t>恳请领导批准此项目技术方案，使之转入开发阶段。</a:t>
            </a:r>
            <a:endParaRPr lang="zh-CN" altLang="en-US" sz="1800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835*382"/>
  <p:tag name="TABLE_ENDDRAG_RECT" val="53*114*835*382"/>
</p:tagLst>
</file>

<file path=ppt/tags/tag5.xml><?xml version="1.0" encoding="utf-8"?>
<p:tagLst xmlns:p="http://schemas.openxmlformats.org/presentationml/2006/main">
  <p:tag name="KSO_WM_UNIT_TABLE_BEAUTIFY" val="smartTable{02fa27e3-5317-4632-b523-991c38de2032}"/>
  <p:tag name="TABLE_ENDDRAG_ORIGIN_RECT" val="845*373"/>
  <p:tag name="TABLE_ENDDRAG_RECT" val="68*136*845*373"/>
</p:tagLst>
</file>

<file path=ppt/tags/tag6.xml><?xml version="1.0" encoding="utf-8"?>
<p:tagLst xmlns:p="http://schemas.openxmlformats.org/presentationml/2006/main">
  <p:tag name="KSO_WM_UNIT_TABLE_BEAUTIFY" val="smartTable{310911a2-f277-4a45-9759-c01210b81f13}"/>
  <p:tag name="KSO_WM_BEAUTIFY_FLAG" val=""/>
  <p:tag name="TABLE_ENDDRAG_ORIGIN_RECT" val="794*267"/>
  <p:tag name="TABLE_ENDDRAG_RECT" val="75*113*794*267"/>
</p:tagLst>
</file>

<file path=ppt/tags/tag7.xml><?xml version="1.0" encoding="utf-8"?>
<p:tagLst xmlns:p="http://schemas.openxmlformats.org/presentationml/2006/main">
  <p:tag name="KSO_WM_UNIT_TABLE_BEAUTIFY" val="smartTable{456f3cf2-67f7-47c0-950e-de5e0bc46dd2}"/>
  <p:tag name="TABLE_ENDDRAG_ORIGIN_RECT" val="774*353"/>
  <p:tag name="TABLE_ENDDRAG_RECT" val="86*141*774*353"/>
  <p:tag name="KSO_WM_BEAUTIFY_FLAG" val=""/>
</p:tagLst>
</file>

<file path=ppt/tags/tag8.xml><?xml version="1.0" encoding="utf-8"?>
<p:tagLst xmlns:p="http://schemas.openxmlformats.org/presentationml/2006/main">
  <p:tag name="KSO_WM_UNIT_TABLE_BEAUTIFY" val="smartTable{dd3d5a14-9673-424e-9f32-6e115e34d700}"/>
  <p:tag name="TABLE_ENDDRAG_ORIGIN_RECT" val="782*311"/>
  <p:tag name="TABLE_ENDDRAG_RECT" val="69*113*782*311"/>
</p:tagLst>
</file>

<file path=ppt/tags/tag9.xml><?xml version="1.0" encoding="utf-8"?>
<p:tagLst xmlns:p="http://schemas.openxmlformats.org/presentationml/2006/main">
  <p:tag name="resource_record_key" val="{&quot;29&quot;:[50053044,50053052,50053017,50053024,50053164,50053072,50053368,50053092,50053364,50000061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WPS 表格</Application>
  <PresentationFormat>宽屏</PresentationFormat>
  <Paragraphs>278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</vt:lpstr>
      <vt:lpstr>微软雅黑</vt:lpstr>
      <vt:lpstr>汉仪书宋二KW</vt:lpstr>
      <vt:lpstr>等线</vt:lpstr>
      <vt:lpstr>汉仪中等线KW</vt:lpstr>
      <vt:lpstr>Calibri</vt:lpstr>
      <vt:lpstr>Helvetica Neue</vt:lpstr>
      <vt:lpstr>宋体</vt:lpstr>
      <vt:lpstr>Arial Unicode MS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一、项目背景</vt:lpstr>
      <vt:lpstr>四、项目目标</vt:lpstr>
      <vt:lpstr>四、项目目标</vt:lpstr>
      <vt:lpstr>PowerPoint 演示文稿</vt:lpstr>
      <vt:lpstr>四、项目目标</vt:lpstr>
      <vt:lpstr>PowerPoint 演示文稿</vt:lpstr>
      <vt:lpstr>三、技术方案</vt:lpstr>
      <vt:lpstr>三、技术方案</vt:lpstr>
      <vt:lpstr>八、风险及问题管理</vt:lpstr>
      <vt:lpstr>九、结 论</vt:lpstr>
      <vt:lpstr>九、结 论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华侨 王</dc:creator>
  <cp:lastModifiedBy>elemeNT</cp:lastModifiedBy>
  <cp:revision>63</cp:revision>
  <dcterms:created xsi:type="dcterms:W3CDTF">2026-06-17T13:05:51Z</dcterms:created>
  <dcterms:modified xsi:type="dcterms:W3CDTF">2026-06-17T13:05:51Z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89B4BCFB83F4E016883B326A6069A954_43</vt:lpwstr>
  </property>
  <property fmtid="{D5CDD505-2E9C-101B-9397-08002B2CF9AE}" pid="3" name="KSOProductBuildVer">
    <vt:lpwstr>2052-12.1.26016.26016</vt:lpwstr>
  </property>
</Properties>
</file>