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sldIdLst>
    <p:sldId id="256" r:id="rId4"/>
    <p:sldId id="257" r:id="rId5"/>
    <p:sldId id="300" r:id="rId6"/>
    <p:sldId id="299" r:id="rId7"/>
    <p:sldId id="304" r:id="rId8"/>
    <p:sldId id="305" r:id="rId9"/>
    <p:sldId id="306" r:id="rId10"/>
    <p:sldId id="297" r:id="rId11"/>
    <p:sldId id="258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1B3"/>
    <a:srgbClr val="595556"/>
    <a:srgbClr val="B4D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7"/>
          <p:cNvSpPr>
            <a:spLocks noChangeShapeType="1"/>
          </p:cNvSpPr>
          <p:nvPr userDrawn="1"/>
        </p:nvSpPr>
        <p:spPr bwMode="auto">
          <a:xfrm>
            <a:off x="149543" y="945515"/>
            <a:ext cx="11892915" cy="635"/>
          </a:xfrm>
          <a:prstGeom prst="line">
            <a:avLst/>
          </a:prstGeom>
          <a:ln w="1270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070350" y="365125"/>
            <a:ext cx="4015105" cy="3962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2800" b="0">
                <a:solidFill>
                  <a:srgbClr val="0161B3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主标题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" hasCustomPrompt="1"/>
          </p:nvPr>
        </p:nvSpPr>
        <p:spPr>
          <a:xfrm>
            <a:off x="673100" y="1002665"/>
            <a:ext cx="1976755" cy="5721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rgbClr val="595556"/>
                </a:solidFill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子标题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7"/>
          <p:cNvSpPr>
            <a:spLocks noChangeShapeType="1"/>
          </p:cNvSpPr>
          <p:nvPr userDrawn="1"/>
        </p:nvSpPr>
        <p:spPr bwMode="auto">
          <a:xfrm>
            <a:off x="149543" y="945515"/>
            <a:ext cx="11892915" cy="635"/>
          </a:xfrm>
          <a:prstGeom prst="line">
            <a:avLst/>
          </a:prstGeom>
          <a:ln w="1270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070350" y="365125"/>
            <a:ext cx="4015105" cy="3962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2800" b="0">
                <a:solidFill>
                  <a:srgbClr val="0161B3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主标题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" hasCustomPrompt="1"/>
          </p:nvPr>
        </p:nvSpPr>
        <p:spPr>
          <a:xfrm>
            <a:off x="673100" y="1002665"/>
            <a:ext cx="1976755" cy="5721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rgbClr val="595556"/>
                </a:solidFill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子标题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2"/>
            </p:custDataLst>
          </p:nvPr>
        </p:nvSpPr>
        <p:spPr>
          <a:xfrm>
            <a:off x="9662160" y="5805170"/>
            <a:ext cx="19024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AI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数智研发部</a:t>
            </a:r>
            <a:endParaRPr lang="zh-CN" altLang="en-US" sz="2000" dirty="0" smtClean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  2026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年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月</a:t>
            </a:r>
            <a:endParaRPr lang="zh-CN" altLang="en-US" sz="2000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6" name="矩形 10"/>
          <p:cNvSpPr/>
          <p:nvPr>
            <p:custDataLst>
              <p:tags r:id="rId3"/>
            </p:custDataLst>
          </p:nvPr>
        </p:nvSpPr>
        <p:spPr>
          <a:xfrm>
            <a:off x="720090" y="1167130"/>
            <a:ext cx="10751820" cy="27495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/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长虹美菱股份有限公司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技术开发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(IPD)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项目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—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转移评审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zh-CN" altLang="en-US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7" name="矩形 11"/>
          <p:cNvSpPr/>
          <p:nvPr>
            <p:custDataLst>
              <p:tags r:id="rId4"/>
            </p:custDataLst>
          </p:nvPr>
        </p:nvSpPr>
        <p:spPr>
          <a:xfrm>
            <a:off x="2759075" y="3804285"/>
            <a:ext cx="6674485" cy="14370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lstStyle/>
          <a:p>
            <a:endParaRPr lang="en-US" altLang="zh-CN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项目名称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XXXXX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技术</a:t>
            </a: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项目类别：基础研究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2"/>
          <p:cNvSpPr>
            <a:spLocks noChangeArrowheads="1"/>
          </p:cNvSpPr>
          <p:nvPr/>
        </p:nvSpPr>
        <p:spPr bwMode="auto">
          <a:xfrm>
            <a:off x="5381623" y="803895"/>
            <a:ext cx="1428754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sz="3200" b="1" dirty="0">
                <a:latin typeface="微软雅黑" charset="-122"/>
                <a:ea typeface="微软雅黑" charset="-122"/>
              </a:rPr>
              <a:t>目 </a:t>
            </a:r>
            <a:r>
              <a:rPr lang="en-US" altLang="zh-CN" sz="3200" b="1" dirty="0">
                <a:latin typeface="微软雅黑" charset="-122"/>
                <a:ea typeface="微软雅黑" charset="-122"/>
              </a:rPr>
              <a:t>  </a:t>
            </a:r>
            <a:r>
              <a:rPr lang="zh-CN" altLang="en-US" sz="3200" b="1" dirty="0">
                <a:latin typeface="微软雅黑" charset="-122"/>
                <a:ea typeface="微软雅黑" charset="-122"/>
              </a:rPr>
              <a:t>录</a:t>
            </a:r>
            <a:endParaRPr lang="zh-CN" altLang="en-US" sz="32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082" name="Text Box 25"/>
          <p:cNvSpPr txBox="1"/>
          <p:nvPr/>
        </p:nvSpPr>
        <p:spPr>
          <a:xfrm>
            <a:off x="4230370" y="1664335"/>
            <a:ext cx="3731260" cy="4453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>
                <a:latin typeface="微软雅黑" charset="-122"/>
                <a:ea typeface="微软雅黑" charset="-122"/>
                <a:sym typeface="+mn-ea"/>
              </a:rPr>
              <a:t>一、项目转移概况</a:t>
            </a:r>
            <a:r>
              <a:rPr lang="en-US" altLang="zh-CN" sz="2000" b="1" dirty="0">
                <a:latin typeface="微软雅黑" charset="-122"/>
                <a:ea typeface="微软雅黑" charset="-122"/>
                <a:sym typeface="+mn-ea"/>
              </a:rPr>
              <a:t>     </a:t>
            </a:r>
            <a:endParaRPr lang="en-US" altLang="zh-CN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二、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转移项目完成情况</a:t>
            </a:r>
            <a:endParaRPr lang="zh-CN" altLang="en-US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三、转移阶段重点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工作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四、亮点与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不足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五、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总结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项目转移</a:t>
            </a:r>
            <a:r>
              <a:rPr lang="zh-CN" altLang="en-US">
                <a:sym typeface="+mn-ea"/>
              </a:rPr>
              <a:t>概况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3655" y="566166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i="1" dirty="0">
                <a:solidFill>
                  <a:srgbClr val="FF00FF"/>
                </a:solidFill>
                <a:latin typeface="微软雅黑" charset="-122"/>
                <a:ea typeface="微软雅黑" charset="-122"/>
                <a:cs typeface="+mj-cs"/>
                <a:sym typeface="+mn-ea"/>
              </a:rPr>
              <a:t>注：项目转移推广汇报，需简要描述项目概况及</a:t>
            </a:r>
            <a:r>
              <a:rPr lang="en-US" altLang="zh-CN" sz="1600" i="1" dirty="0">
                <a:solidFill>
                  <a:srgbClr val="FF00FF"/>
                </a:solidFill>
                <a:latin typeface="微软雅黑" charset="-122"/>
                <a:ea typeface="微软雅黑" charset="-122"/>
                <a:cs typeface="+mj-cs"/>
                <a:sym typeface="+mn-ea"/>
              </a:rPr>
              <a:t>ADCP</a:t>
            </a:r>
            <a:r>
              <a:rPr lang="zh-CN" altLang="en-US" sz="1600" i="1" dirty="0">
                <a:solidFill>
                  <a:srgbClr val="FF00FF"/>
                </a:solidFill>
                <a:latin typeface="微软雅黑" charset="-122"/>
                <a:ea typeface="微软雅黑" charset="-122"/>
                <a:cs typeface="+mj-cs"/>
                <a:sym typeface="+mn-ea"/>
              </a:rPr>
              <a:t>完成情况</a:t>
            </a:r>
            <a:endParaRPr lang="zh-CN" altLang="en-US" sz="1600" i="1" dirty="0">
              <a:solidFill>
                <a:srgbClr val="FF00FF"/>
              </a:solidFill>
              <a:latin typeface="微软雅黑" charset="-122"/>
              <a:ea typeface="微软雅黑" charset="-122"/>
              <a:cs typeface="+mj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9655" y="47720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i="1" dirty="0">
                <a:solidFill>
                  <a:srgbClr val="FF00FF"/>
                </a:solidFill>
                <a:latin typeface="微软雅黑" charset="-122"/>
                <a:ea typeface="微软雅黑" charset="-122"/>
                <a:sym typeface="+mn-ea"/>
              </a:rPr>
              <a:t>技术成果形态描述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 dirty="0">
                <a:latin typeface="微软雅黑" charset="-122"/>
                <a:ea typeface="微软雅黑" charset="-122"/>
                <a:sym typeface="+mn-ea"/>
              </a:rPr>
              <a:t>转移目标完成情况</a:t>
            </a:r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9460" y="1372235"/>
          <a:ext cx="10483215" cy="4168775"/>
        </p:xfrm>
        <a:graphic>
          <a:graphicData uri="http://schemas.openxmlformats.org/drawingml/2006/table">
            <a:tbl>
              <a:tblPr/>
              <a:tblGrid>
                <a:gridCol w="969645"/>
                <a:gridCol w="3309620"/>
                <a:gridCol w="3655060"/>
                <a:gridCol w="2548890"/>
              </a:tblGrid>
              <a:tr h="507365"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7555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技术成果转移项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转移完成情况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备注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9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Q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指标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、</a:t>
                      </a:r>
                      <a:endParaRPr lang="en-US" altLang="zh-CN" sz="1400" b="1" i="0" u="none" strike="noStrike" kern="1200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、</a:t>
                      </a:r>
                      <a:endParaRPr lang="en-US" altLang="zh-CN" sz="1400" b="1" i="0" u="none" strike="noStrike" kern="1200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、</a:t>
                      </a:r>
                      <a:endParaRPr sz="1400" b="1" i="0" u="none" strike="noStrike" kern="1200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r>
                        <a:rPr lang="en-US" sz="1400" b="1" i="0" u="none" strike="noStrike" kern="12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400" b="1" i="0" u="none" strike="noStrike" kern="12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、</a:t>
                      </a:r>
                      <a:endParaRPr lang="en-US" altLang="zh-CN" sz="1400" b="1" i="0" u="none" strike="noStrike" kern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r>
                        <a:rPr lang="en-US" sz="1400" b="1" i="0" u="none" strike="noStrike" kern="12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b="1" i="0" u="none" strike="noStrike" kern="12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、</a:t>
                      </a:r>
                      <a:endParaRPr lang="en-US" altLang="zh-CN" sz="1400" b="1" i="0" u="none" strike="noStrike" kern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r>
                        <a:rPr lang="en-US" sz="1400" b="1" i="0" u="none" strike="noStrike" kern="12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b="1" i="0" u="none" strike="noStrike" kern="12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、</a:t>
                      </a:r>
                      <a:endParaRPr sz="1400" b="1" i="0" u="none" strike="noStrike" kern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algn="l" rtl="0" fontAlgn="ctr">
                        <a:lnSpc>
                          <a:spcPts val="2000"/>
                        </a:lnSpc>
                        <a:buClrTx/>
                        <a:buSzTx/>
                        <a:buNone/>
                      </a:pPr>
                      <a:endParaRPr sz="1400" b="1" i="0" u="none" strike="noStrike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指标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endParaRPr lang="en-US" altLang="zh-CN" sz="1400" b="1" i="0" u="none" strike="noStrike" kern="1200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endParaRPr lang="en-US" altLang="zh-CN" sz="1400" b="1" i="0" u="none" strike="noStrike" kern="1200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algn="l" rtl="0" fontAlgn="ctr">
                        <a:lnSpc>
                          <a:spcPts val="2000"/>
                        </a:lnSpc>
                      </a:pPr>
                      <a:endParaRPr lang="en-US" altLang="zh-CN" sz="1400" b="1" kern="12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指标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endParaRPr lang="en-US" altLang="zh-CN" sz="1400" b="1" i="0" u="none" strike="noStrike" kern="1200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algn="l" defTabSz="914400" rtl="0" eaLnBrk="1" fontAlgn="ctr" latinLnBrk="0" hangingPunct="1">
                        <a:lnSpc>
                          <a:spcPts val="2000"/>
                        </a:lnSpc>
                      </a:pPr>
                      <a:endParaRPr lang="en-US" altLang="zh-CN" sz="1400" b="1" i="0" u="none" strike="noStrike" kern="1200" dirty="0">
                        <a:solidFill>
                          <a:srgbClr val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algn="l" rtl="0" fontAlgn="ctr">
                        <a:lnSpc>
                          <a:spcPts val="2000"/>
                        </a:lnSpc>
                      </a:pPr>
                      <a:endParaRPr lang="en-US" altLang="zh-CN" sz="1400" b="1" kern="12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59460" y="609600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i="1" dirty="0">
                <a:solidFill>
                  <a:srgbClr val="FF00FF"/>
                </a:solidFill>
                <a:latin typeface="微软雅黑" charset="-122"/>
                <a:ea typeface="微软雅黑" charset="-122"/>
                <a:sym typeface="+mn-ea"/>
              </a:rPr>
              <a:t>对照转移计划说明转移完成情况及后期推广计划</a:t>
            </a:r>
            <a:endParaRPr lang="zh-CN" altLang="en-US" sz="1400" i="1" dirty="0">
              <a:solidFill>
                <a:srgbClr val="FF00FF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微软雅黑" charset="-122"/>
                <a:ea typeface="微软雅黑" charset="-122"/>
                <a:sym typeface="+mn-ea"/>
              </a:rPr>
              <a:t>二</a:t>
            </a:r>
            <a:r>
              <a:rPr lang="en-US" altLang="zh-CN" dirty="0">
                <a:latin typeface="微软雅黑" charset="-122"/>
                <a:ea typeface="微软雅黑" charset="-122"/>
                <a:sym typeface="+mn-ea"/>
              </a:rPr>
              <a:t>、</a:t>
            </a:r>
            <a:r>
              <a:rPr lang="zh-CN" altLang="en-US" dirty="0">
                <a:latin typeface="微软雅黑" charset="-122"/>
                <a:ea typeface="微软雅黑" charset="-122"/>
                <a:sym typeface="+mn-ea"/>
              </a:rPr>
              <a:t>转移目标完成情况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695575" cy="572135"/>
          </a:xfrm>
        </p:spPr>
        <p:txBody>
          <a:bodyPr/>
          <a:p>
            <a:r>
              <a:rPr lang="zh-CN" altLang="en-US"/>
              <a:t>转移应用</a:t>
            </a:r>
            <a:r>
              <a:rPr lang="zh-CN" altLang="en-US"/>
              <a:t>综述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微软雅黑" charset="-122"/>
                <a:ea typeface="微软雅黑" charset="-122"/>
                <a:sym typeface="+mn-ea"/>
              </a:rPr>
              <a:t>三</a:t>
            </a:r>
            <a:r>
              <a:rPr lang="en-US" altLang="zh-CN" dirty="0">
                <a:latin typeface="微软雅黑" charset="-122"/>
                <a:ea typeface="微软雅黑" charset="-122"/>
                <a:sym typeface="+mn-ea"/>
              </a:rPr>
              <a:t>、</a:t>
            </a:r>
            <a:r>
              <a:rPr lang="zh-CN" altLang="en-US" dirty="0">
                <a:latin typeface="微软雅黑" charset="-122"/>
                <a:ea typeface="微软雅黑" charset="-122"/>
                <a:sym typeface="+mn-ea"/>
              </a:rPr>
              <a:t>转移阶段重点</a:t>
            </a:r>
            <a:r>
              <a:rPr lang="zh-CN" altLang="en-US" dirty="0">
                <a:latin typeface="微软雅黑" charset="-122"/>
                <a:ea typeface="微软雅黑" charset="-122"/>
                <a:sym typeface="+mn-ea"/>
              </a:rPr>
              <a:t>工作</a:t>
            </a:r>
            <a:endParaRPr lang="zh-CN" altLang="en-US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93135" y="4355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i="1" dirty="0">
                <a:solidFill>
                  <a:srgbClr val="FF00FF"/>
                </a:solidFill>
                <a:latin typeface="微软雅黑" charset="-122"/>
                <a:ea typeface="微软雅黑" charset="-122"/>
                <a:sym typeface="+mn-ea"/>
              </a:rPr>
              <a:t>配合解决哪些问题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</a:t>
            </a:r>
            <a:r>
              <a:rPr lang="en-US" altLang="zh-CN"/>
              <a:t>、</a:t>
            </a:r>
            <a:r>
              <a:rPr lang="zh-CN" altLang="en-US"/>
              <a:t>亮点与</a:t>
            </a:r>
            <a:r>
              <a:rPr lang="zh-CN" altLang="en-US"/>
              <a:t>不足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75105" y="2468245"/>
            <a:ext cx="74231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项目实际应用价值：</a:t>
            </a:r>
            <a:endParaRPr lang="zh-CN" altLang="en-US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/>
              <a:t>1、系统使用情况数据统计</a:t>
            </a:r>
            <a:endParaRPr lang="zh-CN" altLang="en-US" sz="1800"/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1800"/>
              <a:t>2、</a:t>
            </a:r>
            <a:r>
              <a:rPr lang="zh-CN" altLang="en-US" sz="1800">
                <a:sym typeface="+mn-ea"/>
              </a:rPr>
              <a:t>增加卖点带来溢价</a:t>
            </a:r>
            <a:endParaRPr lang="zh-CN" altLang="en-US" sz="1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1800">
                <a:sym typeface="+mn-ea"/>
              </a:rPr>
              <a:t>3、降低成本</a:t>
            </a:r>
            <a:endParaRPr lang="zh-CN" altLang="en-US" sz="1800"/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1800">
                <a:sym typeface="+mn-ea"/>
              </a:rPr>
              <a:t>4、提效减人（或者换算为：一年内，节约的工作量时长</a:t>
            </a:r>
            <a:endParaRPr lang="zh-CN" altLang="en-US" sz="1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1800"/>
              <a:t>亮点需从以上方面进行补充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2415540" y="54209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i="1" dirty="0">
                <a:solidFill>
                  <a:srgbClr val="FF00FF"/>
                </a:solidFill>
                <a:latin typeface="微软雅黑" charset="-122"/>
                <a:ea typeface="微软雅黑" charset="-122"/>
                <a:sym typeface="Arial" panose="020B0604020202090204" pitchFamily="34" charset="0"/>
              </a:rPr>
              <a:t>需对转移阶段发现的问题进行分析</a:t>
            </a:r>
            <a:endParaRPr lang="zh-CN" altLang="en-US" sz="1400" i="1" dirty="0">
              <a:solidFill>
                <a:srgbClr val="FF00FF"/>
              </a:solidFill>
              <a:latin typeface="微软雅黑" charset="-122"/>
              <a:ea typeface="微软雅黑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五</a:t>
            </a:r>
            <a:r>
              <a:rPr lang="en-US" altLang="zh-CN"/>
              <a:t>、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467360" y="987425"/>
            <a:ext cx="10427970" cy="4993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marL="0" marR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charset="-122"/>
                <a:ea typeface="微软雅黑" charset="-122"/>
              </a:rPr>
              <a:t>   </a:t>
            </a:r>
            <a:r>
              <a:rPr lang="en-US" altLang="zh-CN" sz="1800" dirty="0">
                <a:latin typeface="微软雅黑" charset="-122"/>
                <a:ea typeface="微软雅黑" charset="-122"/>
              </a:rPr>
              <a:t> </a:t>
            </a:r>
            <a:endParaRPr lang="en-US" altLang="zh-CN" sz="1800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1800" b="1" dirty="0" smtClean="0">
                <a:latin typeface="微软雅黑" charset="-122"/>
                <a:ea typeface="微软雅黑" charset="-122"/>
                <a:sym typeface="+mn-ea"/>
              </a:rPr>
              <a:t>恳请</a:t>
            </a:r>
            <a:r>
              <a:rPr lang="zh-CN" altLang="en-US" sz="1800" b="1" dirty="0">
                <a:latin typeface="微软雅黑" charset="-122"/>
                <a:ea typeface="微软雅黑" charset="-122"/>
                <a:sym typeface="+mn-ea"/>
              </a:rPr>
              <a:t>领导批准此项目通过</a:t>
            </a:r>
            <a:r>
              <a:rPr lang="zh-CN" altLang="en-US" sz="1800" b="1" dirty="0">
                <a:latin typeface="微软雅黑" charset="-122"/>
                <a:ea typeface="微软雅黑" charset="-122"/>
                <a:sym typeface="+mn-ea"/>
              </a:rPr>
              <a:t>转移</a:t>
            </a:r>
            <a:endParaRPr lang="zh-CN" altLang="en-US" sz="1800" b="1" dirty="0"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TABLE_BEAUTIFY" val="smartTable{b300dcea-2a81-4ff6-9497-32c17d81c6f0}"/>
  <p:tag name="TABLE_ENDDRAG_ORIGIN_RECT" val="825*328"/>
  <p:tag name="TABLE_ENDDRAG_RECT" val="59*108*825*328"/>
</p:tagLst>
</file>

<file path=ppt/tags/tag5.xml><?xml version="1.0" encoding="utf-8"?>
<p:tagLst xmlns:p="http://schemas.openxmlformats.org/presentationml/2006/main">
  <p:tag name="resource_record_key" val="{&quot;29&quot;:[50053044,50053052,50053017,50053024,50053164,50053072,50053368,50053092,50053364,50000061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WPS 演示</Application>
  <PresentationFormat>宽屏</PresentationFormat>
  <Paragraphs>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微软雅黑</vt:lpstr>
      <vt:lpstr>微软雅黑 Light</vt:lpstr>
      <vt:lpstr>Calibri</vt:lpstr>
      <vt:lpstr>Helvetica Neue</vt:lpstr>
      <vt:lpstr>汉仪书宋二KW</vt:lpstr>
      <vt:lpstr>宋体</vt:lpstr>
      <vt:lpstr>Arial Unicode MS</vt:lpstr>
      <vt:lpstr>等线</vt:lpstr>
      <vt:lpstr>汉仪中等线KW</vt:lpstr>
      <vt:lpstr>汉仪中黑KW</vt:lpstr>
      <vt:lpstr>微软雅黑 Light</vt:lpstr>
      <vt:lpstr>Office 主题​​</vt:lpstr>
      <vt:lpstr>1_Office 主题​​</vt:lpstr>
      <vt:lpstr>PowerPoint 演示文稿</vt:lpstr>
      <vt:lpstr>PowerPoint 演示文稿</vt:lpstr>
      <vt:lpstr>一、项目转移概况</vt:lpstr>
      <vt:lpstr>二、转移目标完成情况</vt:lpstr>
      <vt:lpstr>二、转移目标完成情况</vt:lpstr>
      <vt:lpstr>三、转移阶段重点工作</vt:lpstr>
      <vt:lpstr>四、亮点与不足</vt:lpstr>
      <vt:lpstr>五、总结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华侨 王</dc:creator>
  <cp:lastModifiedBy>elemeNT</cp:lastModifiedBy>
  <cp:revision>76</cp:revision>
  <dcterms:created xsi:type="dcterms:W3CDTF">2026-06-18T00:36:37Z</dcterms:created>
  <dcterms:modified xsi:type="dcterms:W3CDTF">2026-06-18T00:36:37Z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89B4BCFB83F4E016883B326A6069A954_43</vt:lpwstr>
  </property>
  <property fmtid="{D5CDD505-2E9C-101B-9397-08002B2CF9AE}" pid="3" name="KSOProductBuildVer">
    <vt:lpwstr>2052-12.1.26016.26016</vt:lpwstr>
  </property>
</Properties>
</file>